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99" autoAdjust="0"/>
    <p:restoredTop sz="58032" autoAdjust="0"/>
  </p:normalViewPr>
  <p:slideViewPr>
    <p:cSldViewPr snapToGrid="0" snapToObjects="1">
      <p:cViewPr varScale="1">
        <p:scale>
          <a:sx n="70" d="100"/>
          <a:sy n="70" d="100"/>
        </p:scale>
        <p:origin x="1536" y="480"/>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AU" b="1" dirty="0"/>
              <a:t>Opening hook (Bloom + AI tutors):</a:t>
            </a:r>
          </a:p>
          <a:p>
            <a:pPr marL="0" lvl="0" indent="0">
              <a:buNone/>
            </a:pPr>
            <a:endParaRPr lang="en-AU" b="1" dirty="0"/>
          </a:p>
          <a:p>
            <a:pPr marL="1270000" lvl="0" indent="0">
              <a:buNone/>
            </a:pPr>
            <a:r>
              <a:rPr lang="en-AU" sz="1200" dirty="0"/>
              <a:t>“Two standard deviations.</a:t>
            </a:r>
            <a:br>
              <a:rPr lang="en-AU" dirty="0"/>
            </a:br>
            <a:r>
              <a:rPr lang="en-AU" sz="1200" dirty="0"/>
              <a:t>[pause 2–3 seconds, make eye contact]</a:t>
            </a:r>
            <a:br>
              <a:rPr lang="en-AU" dirty="0"/>
            </a:br>
            <a:r>
              <a:rPr lang="en-AU" sz="1200" dirty="0"/>
              <a:t>That’s the gap Benjamin Bloom reported in the 1980s between students in a typical classroom and students who received </a:t>
            </a:r>
            <a:r>
              <a:rPr lang="en-AU" sz="1200" b="1" dirty="0"/>
              <a:t>one‑to‑one human tutoring</a:t>
            </a:r>
            <a:r>
              <a:rPr lang="en-AU" sz="1200" dirty="0"/>
              <a:t> – enough to turn an average student into a top performer.</a:t>
            </a:r>
          </a:p>
          <a:p>
            <a:pPr marL="0" lvl="0" indent="0">
              <a:buNone/>
            </a:pPr>
            <a:endParaRPr lang="en-AU" sz="1200" dirty="0"/>
          </a:p>
          <a:p>
            <a:pPr marL="1270000" lvl="0" indent="0">
              <a:buNone/>
            </a:pPr>
            <a:r>
              <a:rPr lang="en-AU" sz="1200" dirty="0"/>
              <a:t>Fast‑forward forty years. Sal Khan – the Khan Academy guy – stands on a TED stage and says: with AI tutors and AI teaching assistants, we might finally be able to get </a:t>
            </a:r>
            <a:r>
              <a:rPr lang="en-AU" sz="1200" b="1" dirty="0"/>
              <a:t>something like that 2‑sigma effect at scale</a:t>
            </a:r>
            <a:r>
              <a:rPr lang="en-AU" sz="1200" dirty="0"/>
              <a:t>. A personal tutor for every student, and an AI assistant for every teacher.</a:t>
            </a:r>
          </a:p>
          <a:p>
            <a:pPr marL="0" lvl="0" indent="0">
              <a:buNone/>
            </a:pPr>
            <a:endParaRPr lang="en-AU" sz="1200" dirty="0"/>
          </a:p>
          <a:p>
            <a:pPr marL="1270000" lvl="0" indent="0">
              <a:buNone/>
            </a:pPr>
            <a:r>
              <a:rPr lang="en-AU" sz="1200" dirty="0"/>
              <a:t>Whether that makes you excited or slightly ill, it raises a very practical question for us here at Curtin:</a:t>
            </a:r>
            <a:br>
              <a:rPr lang="en-AU" dirty="0"/>
            </a:br>
            <a:r>
              <a:rPr lang="en-AU" sz="1200" dirty="0"/>
              <a:t>If tools like this are going to sit in our students’ hands – and in our own enterprise Copilot environment – </a:t>
            </a:r>
            <a:r>
              <a:rPr lang="en-AU" sz="1200" b="1" dirty="0"/>
              <a:t>how do we design teaching, assessment and support so that we get the upside without losing what actually matters?</a:t>
            </a:r>
            <a:br>
              <a:rPr lang="en-AU" dirty="0"/>
            </a:br>
            <a:r>
              <a:rPr lang="en-AU" sz="1200" dirty="0"/>
              <a:t>And how does that sit alongside </a:t>
            </a:r>
            <a:r>
              <a:rPr lang="en-AU" sz="1200" b="1" dirty="0"/>
              <a:t>Assessment 2030</a:t>
            </a:r>
            <a:r>
              <a:rPr lang="en-AU" sz="1200" dirty="0"/>
              <a:t>, academic integrity, and the reality that students can now summon a ‘tutor’ at 2am from their phone?”</a:t>
            </a:r>
          </a:p>
          <a:p>
            <a:pPr marL="0" lvl="0" indent="0">
              <a:buNone/>
            </a:pPr>
            <a:endParaRPr lang="en-AU" sz="1200" dirty="0"/>
          </a:p>
          <a:p>
            <a:pPr marL="0" lvl="0" indent="0">
              <a:buNone/>
            </a:pPr>
            <a:r>
              <a:rPr lang="en-AU" dirty="0"/>
              <a:t>To widen beyond teaching staff, you can add:</a:t>
            </a:r>
          </a:p>
          <a:p>
            <a:pPr marL="0" lvl="0" indent="0">
              <a:buNone/>
            </a:pPr>
            <a:endParaRPr lang="en-AU" dirty="0"/>
          </a:p>
          <a:p>
            <a:pPr marL="1270000" lvl="0" indent="0">
              <a:buNone/>
            </a:pPr>
            <a:r>
              <a:rPr lang="en-AU" sz="1200" dirty="0"/>
              <a:t>“Even if you’re not teaching every day, there’s a similar promise in our research and professional roles – a kind of </a:t>
            </a:r>
            <a:r>
              <a:rPr lang="en-AU" sz="1200" b="1" dirty="0"/>
              <a:t>co‑pilot for the boring parts</a:t>
            </a:r>
            <a:r>
              <a:rPr lang="en-AU" sz="1200" dirty="0"/>
              <a:t> of our jobs – drafting, summarising, chasing patterns – so we can spend more time on work that needs human judgement and relationships.”</a:t>
            </a:r>
          </a:p>
          <a:p>
            <a:pPr marL="0" lvl="0" indent="0">
              <a:buNone/>
            </a:pPr>
            <a:endParaRPr lang="en-AU" sz="1200" dirty="0"/>
          </a:p>
          <a:p>
            <a:pPr marL="0" lvl="0" indent="0">
              <a:buNone/>
            </a:pPr>
            <a:r>
              <a:rPr lang="en-AU" b="1" dirty="0"/>
              <a:t>Position the session:</a:t>
            </a:r>
          </a:p>
          <a:p>
            <a:pPr marL="0" lvl="0" indent="0">
              <a:buNone/>
            </a:pPr>
            <a:endParaRPr lang="en-AU" b="1" dirty="0"/>
          </a:p>
          <a:p>
            <a:pPr marL="1270000" lvl="0" indent="0">
              <a:buNone/>
            </a:pPr>
            <a:r>
              <a:rPr lang="en-AU" sz="1200" dirty="0"/>
              <a:t>“That’s what this session is about. We’re going to:</a:t>
            </a:r>
            <a:br>
              <a:rPr lang="en-AU" dirty="0"/>
            </a:br>
            <a:r>
              <a:rPr lang="en-AU" sz="1200" dirty="0"/>
              <a:t>– Experiment with using AI to </a:t>
            </a:r>
            <a:r>
              <a:rPr lang="en-AU" sz="1200" b="1" dirty="0"/>
              <a:t>automate some of the tedious work</a:t>
            </a:r>
            <a:r>
              <a:rPr lang="en-AU" sz="1200" dirty="0"/>
              <a:t>,</a:t>
            </a:r>
            <a:br>
              <a:rPr lang="en-AU" dirty="0"/>
            </a:br>
            <a:r>
              <a:rPr lang="en-AU" sz="1200" dirty="0"/>
              <a:t>– Practise how to </a:t>
            </a:r>
            <a:r>
              <a:rPr lang="en-AU" sz="1200" b="1" dirty="0"/>
              <a:t>design prompts</a:t>
            </a:r>
            <a:r>
              <a:rPr lang="en-AU" sz="1200" dirty="0"/>
              <a:t> and </a:t>
            </a:r>
            <a:r>
              <a:rPr lang="en-AU" sz="1200" b="1" dirty="0"/>
              <a:t>critique AI outputs</a:t>
            </a:r>
            <a:r>
              <a:rPr lang="en-AU" sz="1200" dirty="0"/>
              <a:t>, and</a:t>
            </a:r>
            <a:br>
              <a:rPr lang="en-AU" dirty="0"/>
            </a:br>
            <a:r>
              <a:rPr lang="en-AU" sz="1200" dirty="0"/>
              <a:t>– Stress‑test our own assessments and practices in the spirit of </a:t>
            </a:r>
            <a:r>
              <a:rPr lang="en-AU" sz="1200" b="1" dirty="0"/>
              <a:t>Assessment 2030</a:t>
            </a:r>
            <a:r>
              <a:rPr lang="en-AU" sz="1200" dirty="0"/>
              <a:t> – not to ban AI, but to redesign so that </a:t>
            </a:r>
            <a:r>
              <a:rPr lang="en-AU" sz="1200" b="1" dirty="0"/>
              <a:t>student judgement, process, and human skills</a:t>
            </a:r>
            <a:r>
              <a:rPr lang="en-AU" sz="1200" dirty="0"/>
              <a:t> remain irreplaceable.”</a:t>
            </a:r>
          </a:p>
          <a:p>
            <a:pPr marL="0" lvl="0" indent="0">
              <a:buNone/>
            </a:pPr>
            <a:endParaRPr lang="en-AU" sz="1200" dirty="0"/>
          </a:p>
          <a:p>
            <a:pPr marL="0" lvl="0" indent="0">
              <a:buNone/>
            </a:pPr>
            <a:r>
              <a:rPr lang="en-AU" dirty="0"/>
              <a:t>You can lightly nod to risks, but unpack them later:</a:t>
            </a:r>
          </a:p>
          <a:p>
            <a:pPr marL="0" lvl="0" indent="0">
              <a:buNone/>
            </a:pPr>
            <a:endParaRPr lang="en-AU" dirty="0"/>
          </a:p>
          <a:p>
            <a:pPr marL="1270000" lvl="0" indent="0">
              <a:buNone/>
            </a:pPr>
            <a:r>
              <a:rPr lang="en-AU" sz="1200" dirty="0"/>
              <a:t>“We also know from recent work that if we lean too hard on these tools, we risk </a:t>
            </a:r>
            <a:r>
              <a:rPr lang="en-AU" sz="1200" b="1" dirty="0"/>
              <a:t>cognitive offloading</a:t>
            </a:r>
            <a:r>
              <a:rPr lang="en-AU" sz="1200" dirty="0"/>
              <a:t>, students feeling less connected, and making cheating easier if our assessments are too automatable. So we’ll spend as much time on </a:t>
            </a:r>
            <a:r>
              <a:rPr lang="en-AU" sz="1200" b="1" dirty="0"/>
              <a:t>how to critique and design around AI</a:t>
            </a:r>
            <a:r>
              <a:rPr lang="en-AU" sz="1200" dirty="0"/>
              <a:t> as we do on the shiny productivity side.”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a:t>
            </a:fld>
            <a:endParaRPr lang="en-US"/>
          </a:p>
        </p:txBody>
      </p:sp>
    </p:spTree>
    <p:extLst>
      <p:ext uri="{BB962C8B-B14F-4D97-AF65-F5344CB8AC3E}">
        <p14:creationId xmlns:p14="http://schemas.microsoft.com/office/powerpoint/2010/main" val="29969442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So the shape of the next two hours is roughly this: a bit of context to connect AI to Assessment 2030, then five very practical activities – automate, prompt, critique, multi‑step workflows, and safe use – and then a short wrap‑up.</a:t>
            </a:r>
          </a:p>
          <a:p>
            <a:pPr marL="0" lvl="0" indent="0">
              <a:buNone/>
            </a:pPr>
            <a:endParaRPr/>
          </a:p>
          <a:p>
            <a:pPr marL="0" lvl="0" indent="0">
              <a:buNone/>
            </a:pPr>
            <a:r>
              <a:t>It’s designed to be mostly hands‑on and beginner‑friendly, with space for questions and discussion as we go.</a:t>
            </a:r>
          </a:p>
          <a:p>
            <a:pPr marL="0" lvl="0" indent="0">
              <a:buNone/>
            </a:pPr>
            <a:endParaRPr/>
          </a:p>
          <a:p>
            <a:pPr marL="0" lvl="0" indent="0">
              <a:buNone/>
            </a:pPr>
            <a:r>
              <a:t>For Activity 4 we have two possible paths, depending on how much Assessment 2030 you’ve already had today:</a:t>
            </a:r>
            <a:br/>
            <a:r>
              <a:t>we can either probe one of our assessments with AI and discuss redesign, or we can use a multi‑step AI workflow to tackle one of those ‘impossible’ teaching or design problems. We’ll pick on the day based on the room.</a:t>
            </a:r>
          </a:p>
          <a:p>
            <a:pPr marL="0" lvl="0" indent="0">
              <a:buNone/>
            </a:pPr>
            <a:endParaRPr/>
          </a:p>
          <a:p>
            <a:pPr marL="0" lvl="0" indent="0">
              <a:buNone/>
            </a:pPr>
            <a:r>
              <a:t>You can also briefly note that the </a:t>
            </a:r>
            <a:r>
              <a:rPr b="1"/>
              <a:t>presentation and companion website themselves</a:t>
            </a:r>
            <a:r>
              <a:t> are examples of using AI as a co‑pilot:</a:t>
            </a:r>
          </a:p>
          <a:p>
            <a:pPr marL="0" lvl="0" indent="0">
              <a:buNone/>
            </a:pPr>
            <a:endParaRPr/>
          </a:p>
          <a:p>
            <a:pPr marL="1270000" lvl="0" indent="0">
              <a:buNone/>
            </a:pPr>
            <a:r>
              <a:rPr sz="2000"/>
              <a:t>“Just as we’ll explore today, these slides and the website were developed with AI support – for drafting, structuring and idea generation – but always with human oversight, editing and verification. So this session is very much about </a:t>
            </a:r>
            <a:r>
              <a:rPr sz="2000" i="1"/>
              <a:t>walking the talk</a:t>
            </a:r>
            <a:r>
              <a:rPr sz="2000"/>
              <a:t> as well as talking about it.”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ITS deliver </a:t>
            </a:r>
            <a:r>
              <a:rPr b="1"/>
              <a:t>personalised, one-on-one instruction</a:t>
            </a:r>
            <a:r>
              <a:t> by relying on an integrated architecture of four key components: the </a:t>
            </a:r>
            <a:r>
              <a:rPr b="1"/>
              <a:t>Domain Model</a:t>
            </a:r>
            <a:r>
              <a:t> (what is taught), the </a:t>
            </a:r>
            <a:r>
              <a:rPr b="1"/>
              <a:t>Learner Model</a:t>
            </a:r>
            <a:r>
              <a:t> (who is learning, including successes and misconceptions), the </a:t>
            </a:r>
            <a:r>
              <a:rPr b="1"/>
              <a:t>Tutoring Model</a:t>
            </a:r>
            <a:r>
              <a:t> (how to teach), and the </a:t>
            </a:r>
            <a:r>
              <a:rPr b="1"/>
              <a:t>User Interface Model</a:t>
            </a:r>
            <a:r>
              <a:t> (interaction). The quality of instruction is directly determined by the sophistication of these underlying models, which collectively ensure that the system adjusts the pace, difficulty, and focus of lessons in real-time.</a:t>
            </a:r>
          </a:p>
          <a:p>
            <a:pPr marL="0" lvl="0" indent="0">
              <a:buNone/>
            </a:pPr>
            <a:endParaRPr/>
          </a:p>
          <a:p>
            <a:pPr marL="0" lvl="0" indent="0">
              <a:buNone/>
            </a:pPr>
            <a:r>
              <a:rPr b="1"/>
              <a:t>Analogy:</a:t>
            </a:r>
            <a:r>
              <a:t> Intelligent Tutoring Systems function much like an automated personal trainer at a gym. Just as the trainer analyzes your current fitness level, pace, and weaknesses (the </a:t>
            </a:r>
            <a:r>
              <a:rPr b="1"/>
              <a:t>Student Model</a:t>
            </a:r>
            <a:r>
              <a:t>), knows the curriculum of exercises (the </a:t>
            </a:r>
            <a:r>
              <a:rPr b="1"/>
              <a:t>Domain Model</a:t>
            </a:r>
            <a:r>
              <a:t>), and determines the optimal routine to challenge you without overwhelming you (the </a:t>
            </a:r>
            <a:r>
              <a:rPr b="1"/>
              <a:t>Tutoring Model</a:t>
            </a:r>
            <a:r>
              <a:t>), the ITS continuously adjusts the learning path to ensure instruction is both challenging and achievable, promoting deeper understanding.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Key Takeaway:</a:t>
            </a:r>
            <a:r>
              <a:rPr dirty="0"/>
              <a:t> AI fundamentally transforms the pedagogical designer’s role from a manual content creator to a </a:t>
            </a:r>
            <a:r>
              <a:rPr b="1" dirty="0"/>
              <a:t>Strategic Architect</a:t>
            </a:r>
            <a:r>
              <a:rPr dirty="0"/>
              <a:t> by automating previously slow and tedious tasks, such as generating course outlines, assessments, and multimedia. This automation forces the designer to focus on </a:t>
            </a:r>
            <a:r>
              <a:rPr b="1" dirty="0"/>
              <a:t>high-level, human-centric design</a:t>
            </a:r>
            <a:r>
              <a:rPr dirty="0"/>
              <a:t>—creating flexible, dynamic frameworks and addressing emotional barriers to learning, rather than formatting slides or writing quiz questions.</a:t>
            </a:r>
          </a:p>
          <a:p>
            <a:pPr marL="0" lvl="0" indent="0">
              <a:buNone/>
            </a:pPr>
            <a:endParaRPr dirty="0"/>
          </a:p>
          <a:p>
            <a:pPr marL="0" lvl="0" indent="0">
              <a:buNone/>
            </a:pPr>
            <a:r>
              <a:rPr b="1" dirty="0"/>
              <a:t>Analogy:</a:t>
            </a:r>
            <a:r>
              <a:rPr dirty="0"/>
              <a:t> If traditional pedagogical design was like crafting a single, hand-built ship (a static course) that everyone had to sail on, the AI era redesigns the role of the architect. The new Pedagogical Architect now designs a complex, adaptive fleet where each ship (module) can adjust its sails, speed, and navigation (difficulty, pace, content) based on the real-time weather (student performance data), ensuring everyone reaches their destination, but along a </a:t>
            </a:r>
            <a:r>
              <a:rPr dirty="0" err="1"/>
              <a:t>personalised</a:t>
            </a:r>
            <a:r>
              <a:rPr dirty="0"/>
              <a:t> route. The architect’s most critical new job is ensuring the human crew (teachers and students) still communicate and build rapport, not just follow the automated navigation system.</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AI revolutionizes pedagogical delivery by collapsing the feedback loop and providing educators with </a:t>
            </a:r>
            <a:r>
              <a:rPr b="1"/>
              <a:t>real-time data insights</a:t>
            </a:r>
            <a:r>
              <a:t> into student progress, performance patterns, and cognitive states. This data-driven delivery allows the human teacher to transition into a </a:t>
            </a:r>
            <a:r>
              <a:rPr b="1"/>
              <a:t>“real-time interventionist,”</a:t>
            </a:r>
            <a:r>
              <a:t> enabling them to abandon content presentation to the “average” student and instead focus on targeted, high-value interventions based on immediate, actionable data. It can be viewed the impact of AI on pedagogical delivery not as a replacement for the teacher, but as an augmented reality for the classroom. AI handles the mechanics of instruction and data analysis, allowing the human practitioner to execute their craft with surgical precision, focusing their limited time on high-value, empathetic, and complex human interactions.</a:t>
            </a:r>
          </a:p>
          <a:p>
            <a:pPr marL="0" lvl="0" indent="0">
              <a:buNone/>
            </a:pPr>
            <a:endParaRPr/>
          </a:p>
          <a:p>
            <a:pPr marL="0" lvl="0" indent="0">
              <a:buNone/>
            </a:pPr>
            <a:r>
              <a:rPr b="1"/>
              <a:t>Analogy:</a:t>
            </a:r>
            <a:r>
              <a:t>. AI in the classroom functions as an AI Co-Pilot. The AI (co-pilot) handles the routine mechanics of flight (content delivery, system monitoring, and performance tracking), allowing the human pilot (the educator) to focus on complex navigation, communicating with the crew (students), and managing unexpected turbulence (misconceptions or emotional barriers) with surgical precision.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Despite the technological promise, a critical challenge for AIED is the </a:t>
            </a:r>
            <a:r>
              <a:rPr b="1"/>
              <a:t>risk of eroding the human element</a:t>
            </a:r>
            <a:r>
              <a:t> and exacerbating </a:t>
            </a:r>
            <a:r>
              <a:rPr b="1"/>
              <a:t>educational inequity</a:t>
            </a:r>
            <a:r>
              <a:t> through algorithmic bias. Over-reliance on ITS and generative tools can reduce valuable face-to-face interactions, while studies show that students using AI sometimes feel </a:t>
            </a:r>
            <a:r>
              <a:rPr b="1"/>
              <a:t>less connected to their teachers</a:t>
            </a:r>
            <a:r>
              <a:t> (the “paradox of connection”). Furthermore, predictive models trained on historical data risk perpetuating existing biases against marginalized groups when allocating resources or flagging “at-risk” learners.</a:t>
            </a:r>
          </a:p>
          <a:p>
            <a:pPr marL="0" lvl="0" indent="0">
              <a:buNone/>
            </a:pPr>
            <a:endParaRPr/>
          </a:p>
          <a:p>
            <a:pPr marL="0" lvl="0" indent="0">
              <a:buNone/>
            </a:pPr>
            <a:r>
              <a:t>Recent work also highlights broader risks: generative AI can </a:t>
            </a:r>
            <a:r>
              <a:rPr b="1"/>
              <a:t>hallucinate</a:t>
            </a:r>
            <a:r>
              <a:t> plausible but incorrect information, enable large‑scale </a:t>
            </a:r>
            <a:r>
              <a:rPr b="1"/>
              <a:t>misinformation and deepfakes</a:t>
            </a:r>
            <a:r>
              <a:t>, and make it easier to </a:t>
            </a:r>
            <a:r>
              <a:rPr b="1"/>
              <a:t>circumvent traditional assessments</a:t>
            </a:r>
            <a:r>
              <a:t> if those tasks are easily automated. These are not reasons to ban AI outright, but reasons to </a:t>
            </a:r>
            <a:r>
              <a:rPr b="1"/>
              <a:t>redesign tasks and guardrails</a:t>
            </a:r>
            <a:r>
              <a:t> so that human judgement and process remain visible.</a:t>
            </a:r>
          </a:p>
          <a:p>
            <a:pPr marL="0" lvl="0" indent="0">
              <a:buNone/>
            </a:pPr>
            <a:endParaRPr/>
          </a:p>
          <a:p>
            <a:pPr marL="0" lvl="0" indent="0">
              <a:buNone/>
            </a:pPr>
            <a:r>
              <a:t>You can link this directly to </a:t>
            </a:r>
            <a:r>
              <a:rPr b="1"/>
              <a:t>Assessment 2030</a:t>
            </a:r>
            <a:r>
              <a:t> and later activities:</a:t>
            </a:r>
          </a:p>
          <a:p>
            <a:pPr marL="0" lvl="0" indent="0">
              <a:buNone/>
            </a:pPr>
            <a:endParaRPr/>
          </a:p>
          <a:p>
            <a:pPr marL="1270000" lvl="0" indent="0">
              <a:buNone/>
            </a:pPr>
            <a:r>
              <a:rPr sz="2000"/>
              <a:t>“Assessment 2030 is essentially our institutional response to these challenges. Rather than pretending AI doesn’t exist, we redesign assessment and learning activities so that </a:t>
            </a:r>
            <a:r>
              <a:rPr sz="2000" b="1"/>
              <a:t>student thinking and judgement</a:t>
            </a:r>
            <a:r>
              <a:rPr sz="2000"/>
              <a:t> are what really matter. Activities 3–5 in this workshop are about giving you practical ways to do that.”</a:t>
            </a:r>
          </a:p>
          <a:p>
            <a:pPr marL="0" lvl="0" indent="0">
              <a:buNone/>
            </a:pPr>
            <a:endParaRPr sz="2000"/>
          </a:p>
          <a:p>
            <a:pPr marL="0" lvl="0" indent="0">
              <a:buNone/>
            </a:pPr>
            <a:r>
              <a:rPr b="1"/>
              <a:t>Analogy:</a:t>
            </a:r>
            <a:r>
              <a:t> Think of AIED as a new, highly efficient Automated Factory. While it produces learning materials at scale (efficiency), it risks creating a sterile, one-size-fits-all product that lacks the “human touch” (eroding connection). More dangerously, if the factory’s blueprints (the algorithm) have a flaw (bias), it doesn’t just create one bad product; it replicates that flaw thousands of times, perpetuating the inequity at scale.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Key Takeaway:</a:t>
            </a:r>
            <a:r>
              <a:t> The long-term impact of AI is a </a:t>
            </a:r>
            <a:r>
              <a:rPr b="1"/>
              <a:t>forced re-humanization</a:t>
            </a:r>
            <a:r>
              <a:t> of the educator’s role, where the practitioner is compelled to abandon the commoditized, technical tasks (which AI can perform) and focus on the </a:t>
            </a:r>
            <a:r>
              <a:rPr b="1"/>
              <a:t>Human Edge of AI</a:t>
            </a:r>
            <a:r>
              <a:t>. This means prioritizing </a:t>
            </a:r>
            <a:r>
              <a:rPr b="1"/>
              <a:t>empathy, creativity, strategic thinking, mentorship, and socio-emotional support</a:t>
            </a:r>
            <a:r>
              <a:t>—the unique human skills vital for holistic student development that AI fundamentally cannot replicate. Educators must also become proficient in </a:t>
            </a:r>
            <a:r>
              <a:rPr b="1"/>
              <a:t>interpreting AI data</a:t>
            </a:r>
            <a:r>
              <a:t> and developing </a:t>
            </a:r>
            <a:r>
              <a:rPr b="1"/>
              <a:t>ethical reasoning</a:t>
            </a:r>
            <a:r>
              <a:t> to guide responsible technology use.</a:t>
            </a:r>
          </a:p>
          <a:p>
            <a:pPr marL="0" lvl="0" indent="0">
              <a:buNone/>
            </a:pPr>
            <a:endParaRPr/>
          </a:p>
          <a:p>
            <a:pPr marL="0" lvl="0" indent="0">
              <a:buNone/>
            </a:pPr>
            <a:r>
              <a:rPr b="1"/>
              <a:t>Analogy:</a:t>
            </a:r>
            <a:r>
              <a:t> The integration of AI is like a Rising Tide. As the AI “tide” rises, it automates and submerges all the routine, technical “lowlands” of the job (grading, content delivery). This forces the educator to move to the “high ground”—the uniquely human skills of empathy, mentorship, and creative problem-solving that the tide cannot reach. Their value is no longer in the submerged tasks, but on this new, more human-centric high ground.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“Use AI to draft summaries and repurpose them for teaching tasks.”</a:t>
            </a:r>
          </a:p>
          <a:p>
            <a:pPr marL="0" lvl="0" indent="0">
              <a:buNone/>
            </a:pPr>
            <a:endParaRPr/>
          </a:p>
          <a:p>
            <a:pPr marL="0" lvl="0" indent="0">
              <a:buNone/>
            </a:pPr>
            <a:r>
              <a:t>Core instructions:</a:t>
            </a:r>
          </a:p>
          <a:p>
            <a:pPr marL="0" lvl="0" indent="0">
              <a:buNone/>
            </a:pPr>
            <a:endParaRPr/>
          </a:p>
          <a:p>
            <a:pPr marL="342900" lvl="0" indent="-342900">
              <a:buAutoNum type="arabicPeriod"/>
            </a:pPr>
            <a:r>
              <a:t>Choose a short text:</a:t>
            </a:r>
          </a:p>
          <a:p>
            <a:pPr marL="0" lvl="0" indent="0">
              <a:buNone/>
            </a:pPr>
            <a:endParaRPr/>
          </a:p>
          <a:p>
            <a:pPr lvl="1"/>
            <a:r>
              <a:t>reading excerpt, assignment brief, policy section, etc.</a:t>
            </a:r>
          </a:p>
          <a:p>
            <a:pPr marL="0" lvl="0" indent="0">
              <a:buNone/>
            </a:pPr>
            <a:endParaRPr/>
          </a:p>
          <a:p>
            <a:pPr marL="342900" lvl="0" indent="-342900">
              <a:buAutoNum type="arabicPeriod"/>
            </a:pPr>
            <a:r>
              <a:t>Run the summary prompt:</a:t>
            </a:r>
          </a:p>
          <a:p>
            <a:pPr marL="0" lvl="0" indent="0">
              <a:buNone/>
            </a:pPr>
            <a:endParaRPr/>
          </a:p>
          <a:p>
            <a:pPr lvl="1"/>
            <a:r>
              <a:t>“Summarise this for year level students in 5–7 bullet points. Use plain language, highlight 2–3 key ideas, end with one discussion question.”</a:t>
            </a:r>
          </a:p>
          <a:p>
            <a:pPr marL="0" lvl="0" indent="0">
              <a:buNone/>
            </a:pPr>
            <a:endParaRPr/>
          </a:p>
          <a:p>
            <a:pPr marL="342900" lvl="0" indent="-342900">
              <a:buAutoNum type="arabicPeriod"/>
            </a:pPr>
            <a:r>
              <a:t>Choose a twist:</a:t>
            </a:r>
          </a:p>
          <a:p>
            <a:pPr marL="0" lvl="0" indent="0">
              <a:buNone/>
            </a:pPr>
            <a:endParaRPr/>
          </a:p>
          <a:p>
            <a:pPr lvl="1"/>
            <a:r>
              <a:t>LMS announcement,</a:t>
            </a:r>
            <a:br/>
            <a:endParaRPr/>
          </a:p>
          <a:p>
            <a:pPr marL="0" lvl="0" indent="0">
              <a:buNone/>
            </a:pPr>
            <a:endParaRPr/>
          </a:p>
          <a:p>
            <a:pPr lvl="1"/>
            <a:r>
              <a:t>2‑slide outline,</a:t>
            </a:r>
            <a:br/>
            <a:endParaRPr/>
          </a:p>
          <a:p>
            <a:pPr marL="0" lvl="0" indent="0">
              <a:buNone/>
            </a:pPr>
            <a:endParaRPr/>
          </a:p>
          <a:p>
            <a:pPr lvl="1"/>
            <a:r>
              <a:t>short quiz.</a:t>
            </a:r>
          </a:p>
          <a:p>
            <a:pPr marL="0" lvl="0" indent="0">
              <a:buNone/>
            </a:pPr>
            <a:endParaRPr/>
          </a:p>
          <a:p>
            <a:pPr marL="342900" lvl="0" indent="-342900">
              <a:buAutoNum type="arabicPeriod"/>
            </a:pPr>
            <a:r>
              <a:t>Edit the output as needed.</a:t>
            </a:r>
          </a:p>
          <a:p>
            <a:pPr marL="0" lvl="0" indent="0">
              <a:buNone/>
            </a:pPr>
            <a:endParaRPr/>
          </a:p>
          <a:p>
            <a:pPr marL="0" lvl="0" indent="0">
              <a:buNone/>
            </a:pPr>
            <a:r>
              <a:t>Variants box:</a:t>
            </a:r>
          </a:p>
          <a:p>
            <a:pPr marL="0" lvl="0" indent="0">
              <a:buNone/>
            </a:pPr>
            <a:endParaRPr/>
          </a:p>
          <a:p>
            <a:pPr lvl="0"/>
            <a:r>
              <a:t>Researchers: summarise an abstract → plain English for participants / media; summarise reviewer comments → draft response.</a:t>
            </a:r>
          </a:p>
          <a:p>
            <a:pPr marL="0" lvl="0" indent="0">
              <a:buNone/>
            </a:pPr>
            <a:endParaRPr/>
          </a:p>
          <a:p>
            <a:pPr lvl="0"/>
            <a:r>
              <a:t>Professional staff: summarise a policy or process → student email, FAQ, or staff bulletin.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“Move from vague prompts to structured, high‑quality ones.”</a:t>
            </a:r>
          </a:p>
          <a:p>
            <a:pPr marL="0" lvl="0" indent="0">
              <a:buNone/>
            </a:pPr>
            <a:endParaRPr/>
          </a:p>
          <a:p>
            <a:pPr marL="0" lvl="0" indent="0">
              <a:buNone/>
            </a:pPr>
            <a:r>
              <a:t>Core instructions:</a:t>
            </a:r>
          </a:p>
          <a:p>
            <a:pPr marL="0" lvl="0" indent="0">
              <a:buNone/>
            </a:pPr>
            <a:endParaRPr/>
          </a:p>
          <a:p>
            <a:pPr marL="342900" lvl="0" indent="-342900">
              <a:buAutoNum type="arabicPeriod"/>
            </a:pPr>
            <a:r>
              <a:t>Copy one prompt you actually used in Activity 1.</a:t>
            </a:r>
          </a:p>
          <a:p>
            <a:pPr marL="0" lvl="0" indent="0">
              <a:buNone/>
            </a:pPr>
            <a:endParaRPr/>
          </a:p>
          <a:p>
            <a:pPr marL="342900" lvl="0" indent="-342900">
              <a:buAutoNum type="arabicPeriod"/>
            </a:pPr>
            <a:r>
              <a:t>Underneath it, rewrite using:</a:t>
            </a:r>
          </a:p>
          <a:p>
            <a:pPr marL="0" lvl="0" indent="0">
              <a:buNone/>
            </a:pPr>
            <a:endParaRPr/>
          </a:p>
          <a:p>
            <a:pPr lvl="1"/>
            <a:r>
              <a:t>CONTEXT (unit/role, level, constraints)</a:t>
            </a:r>
          </a:p>
          <a:p>
            <a:pPr marL="0" lvl="0" indent="0">
              <a:buNone/>
            </a:pPr>
            <a:endParaRPr/>
          </a:p>
          <a:p>
            <a:pPr lvl="1"/>
            <a:r>
              <a:t>ROLE (“You are a…”)</a:t>
            </a:r>
          </a:p>
          <a:p>
            <a:pPr marL="0" lvl="0" indent="0">
              <a:buNone/>
            </a:pPr>
            <a:endParaRPr/>
          </a:p>
          <a:p>
            <a:pPr lvl="1"/>
            <a:r>
              <a:t>ACTION (what you want AI to do)</a:t>
            </a:r>
          </a:p>
          <a:p>
            <a:pPr marL="0" lvl="0" indent="0">
              <a:buNone/>
            </a:pPr>
            <a:endParaRPr/>
          </a:p>
          <a:p>
            <a:pPr lvl="1"/>
            <a:r>
              <a:t>FORMAT (bullets, table, slides, etc.)</a:t>
            </a:r>
          </a:p>
          <a:p>
            <a:pPr marL="0" lvl="0" indent="0">
              <a:buNone/>
            </a:pPr>
            <a:endParaRPr/>
          </a:p>
          <a:p>
            <a:pPr lvl="1"/>
            <a:r>
              <a:t>TONE/CONSTRAINTS (word limit, level, etc.)</a:t>
            </a:r>
          </a:p>
          <a:p>
            <a:pPr marL="0" lvl="0" indent="0">
              <a:buNone/>
            </a:pPr>
            <a:endParaRPr/>
          </a:p>
          <a:p>
            <a:pPr marL="342900" lvl="0" indent="-342900">
              <a:buAutoNum type="arabicPeriod"/>
            </a:pPr>
            <a:r>
              <a:t>Run both prompts and compare outputs.</a:t>
            </a:r>
          </a:p>
          <a:p>
            <a:pPr marL="0" lvl="0" indent="0">
              <a:buNone/>
            </a:pPr>
            <a:endParaRPr/>
          </a:p>
          <a:p>
            <a:pPr marL="342900" lvl="0" indent="-342900">
              <a:buAutoNum type="arabicPeriod"/>
            </a:pPr>
            <a:r>
              <a:t>Note what changed in quality, relevance, and usefulness.</a:t>
            </a:r>
          </a:p>
          <a:p>
            <a:pPr marL="0" lvl="0" indent="0">
              <a:buNone/>
            </a:pPr>
            <a:endParaRPr/>
          </a:p>
          <a:p>
            <a:pPr marL="0" lvl="0" indent="0">
              <a:buNone/>
            </a:pPr>
            <a:r>
              <a:t>Include 1–2 patterns on the page (e.g. teaching activity prompt + feedback helper).</a:t>
            </a:r>
          </a:p>
          <a:p>
            <a:pPr marL="0" lvl="0" indent="0">
              <a:buNone/>
            </a:pPr>
            <a:endParaRPr/>
          </a:p>
          <a:p>
            <a:pPr marL="0" lvl="0" indent="0">
              <a:buNone/>
            </a:pPr>
            <a:r>
              <a:t>Variants box:</a:t>
            </a:r>
          </a:p>
          <a:p>
            <a:pPr marL="0" lvl="0" indent="0">
              <a:buNone/>
            </a:pPr>
            <a:endParaRPr/>
          </a:p>
          <a:p>
            <a:pPr lvl="0"/>
            <a:r>
              <a:t>Researchers: prompt makeover for literature review help, grant impact section, interview protocol.</a:t>
            </a:r>
          </a:p>
          <a:p>
            <a:pPr marL="0" lvl="0" indent="0">
              <a:buNone/>
            </a:pPr>
            <a:endParaRPr/>
          </a:p>
          <a:p>
            <a:pPr lvl="0"/>
            <a:r>
              <a:t>Professional staff: prompt makeover for student comms, website copy, internal memos.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“Evaluate AI outputs quickly and decide: refine, re‑prompt, or start over.”</a:t>
            </a:r>
          </a:p>
          <a:p>
            <a:pPr marL="0" lvl="0" indent="0">
              <a:buNone/>
            </a:pPr>
            <a:endParaRPr/>
          </a:p>
          <a:p>
            <a:pPr marL="0" lvl="0" indent="0">
              <a:buNone/>
            </a:pPr>
            <a:r>
              <a:t>Core instructions:</a:t>
            </a:r>
          </a:p>
          <a:p>
            <a:pPr marL="0" lvl="0" indent="0">
              <a:buNone/>
            </a:pPr>
            <a:endParaRPr/>
          </a:p>
          <a:p>
            <a:pPr marL="342900" lvl="0" indent="-342900">
              <a:buAutoNum type="arabicPeriod"/>
            </a:pPr>
            <a:r>
              <a:t>Pick one AI output from Activities 1–2.</a:t>
            </a:r>
          </a:p>
          <a:p>
            <a:pPr marL="0" lvl="0" indent="0">
              <a:buNone/>
            </a:pPr>
            <a:endParaRPr/>
          </a:p>
          <a:p>
            <a:pPr marL="342900" lvl="0" indent="-342900">
              <a:buAutoNum type="arabicPeriod"/>
            </a:pPr>
            <a:r>
              <a:t>For each step, note one strength + one concern:</a:t>
            </a:r>
          </a:p>
          <a:p>
            <a:pPr marL="0" lvl="0" indent="0">
              <a:buNone/>
            </a:pPr>
            <a:endParaRPr/>
          </a:p>
          <a:p>
            <a:pPr lvl="1"/>
            <a:r>
              <a:t>Purpose, Plausibility, Evidence, Stakes, Action.</a:t>
            </a:r>
          </a:p>
          <a:p>
            <a:pPr marL="0" lvl="0" indent="0">
              <a:buNone/>
            </a:pPr>
            <a:endParaRPr/>
          </a:p>
          <a:p>
            <a:pPr marL="342900" lvl="0" indent="-342900">
              <a:buAutoNum type="arabicPeriod"/>
            </a:pPr>
            <a:r>
              <a:t>Decide:</a:t>
            </a:r>
          </a:p>
          <a:p>
            <a:pPr marL="0" lvl="0" indent="0">
              <a:buNone/>
            </a:pPr>
            <a:endParaRPr/>
          </a:p>
          <a:p>
            <a:pPr lvl="1"/>
            <a:r>
              <a:t>Keep and lightly edit?</a:t>
            </a:r>
            <a:br/>
            <a:endParaRPr/>
          </a:p>
          <a:p>
            <a:pPr marL="0" lvl="0" indent="0">
              <a:buNone/>
            </a:pPr>
            <a:endParaRPr/>
          </a:p>
          <a:p>
            <a:pPr lvl="1"/>
            <a:r>
              <a:t>Re‑prompt in a new direction?</a:t>
            </a:r>
            <a:br/>
            <a:endParaRPr/>
          </a:p>
          <a:p>
            <a:pPr marL="0" lvl="0" indent="0">
              <a:buNone/>
            </a:pPr>
            <a:endParaRPr/>
          </a:p>
          <a:p>
            <a:pPr lvl="1"/>
            <a:r>
              <a:t>Discard and start fresh?</a:t>
            </a:r>
          </a:p>
          <a:p>
            <a:pPr marL="0" lvl="0" indent="0">
              <a:buNone/>
            </a:pPr>
            <a:endParaRPr/>
          </a:p>
          <a:p>
            <a:pPr marL="0" lvl="0" indent="0">
              <a:buNone/>
            </a:pPr>
            <a:r>
              <a:t>Include a small 5‑column table they can scribble in.</a:t>
            </a:r>
          </a:p>
          <a:p>
            <a:pPr marL="0" lvl="0" indent="0">
              <a:buNone/>
            </a:pPr>
            <a:endParaRPr/>
          </a:p>
          <a:p>
            <a:pPr marL="0" lvl="0" indent="0">
              <a:buNone/>
            </a:pPr>
            <a:r>
              <a:t>Variants box:</a:t>
            </a:r>
          </a:p>
          <a:p>
            <a:pPr marL="0" lvl="0" indent="0">
              <a:buNone/>
            </a:pPr>
            <a:endParaRPr/>
          </a:p>
          <a:p>
            <a:pPr lvl="0"/>
            <a:r>
              <a:t>Researchers: critique an AI‑generated abstract, “related work” section, or summary.</a:t>
            </a:r>
          </a:p>
          <a:p>
            <a:pPr marL="0" lvl="0" indent="0">
              <a:buNone/>
            </a:pPr>
            <a:endParaRPr/>
          </a:p>
          <a:p>
            <a:pPr lvl="0"/>
            <a:r>
              <a:t>Professional staff: critique an AI‑generated student email, FAQ, or web page.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“Use AI to stress‑test an assessment (or parallel task) and sketch small redesigns.”</a:t>
            </a:r>
          </a:p>
          <a:p>
            <a:pPr marL="0" lvl="0" indent="0">
              <a:buNone/>
            </a:pPr>
            <a:endParaRPr/>
          </a:p>
          <a:p>
            <a:pPr marL="0" lvl="0" indent="0">
              <a:buNone/>
            </a:pPr>
            <a:r>
              <a:t>Core instructions:</a:t>
            </a:r>
          </a:p>
          <a:p>
            <a:pPr marL="0" lvl="0" indent="0">
              <a:buNone/>
            </a:pPr>
            <a:endParaRPr/>
          </a:p>
          <a:p>
            <a:pPr marL="342900" lvl="0" indent="-342900">
              <a:buAutoNum type="arabicPeriod"/>
            </a:pPr>
            <a:r>
              <a:t>Choose a task:</a:t>
            </a:r>
          </a:p>
          <a:p>
            <a:pPr marL="0" lvl="0" indent="0">
              <a:buNone/>
            </a:pPr>
            <a:endParaRPr/>
          </a:p>
          <a:p>
            <a:pPr lvl="1"/>
            <a:r>
              <a:t>Your own assessment, or a provided example.</a:t>
            </a:r>
          </a:p>
          <a:p>
            <a:pPr marL="0" lvl="0" indent="0">
              <a:buNone/>
            </a:pPr>
            <a:endParaRPr/>
          </a:p>
          <a:p>
            <a:pPr marL="342900" lvl="0" indent="-342900">
              <a:buAutoNum type="arabicPeriod"/>
            </a:pPr>
            <a:r>
              <a:t>Step 1 – Completion:</a:t>
            </a:r>
          </a:p>
          <a:p>
            <a:pPr marL="0" lvl="0" indent="0">
              <a:buNone/>
            </a:pPr>
            <a:endParaRPr/>
          </a:p>
          <a:p>
            <a:pPr lvl="1"/>
            <a:r>
              <a:t>(If AI available) Ask AI to complete the task as a strong student.</a:t>
            </a:r>
          </a:p>
          <a:p>
            <a:pPr marL="0" lvl="0" indent="0">
              <a:buNone/>
            </a:pPr>
            <a:endParaRPr/>
          </a:p>
          <a:p>
            <a:pPr marL="342900" lvl="0" indent="-342900">
              <a:buAutoNum type="arabicPeriod"/>
            </a:pPr>
            <a:r>
              <a:t>Step 2 – Critique:</a:t>
            </a:r>
          </a:p>
          <a:p>
            <a:pPr marL="0" lvl="0" indent="0">
              <a:buNone/>
            </a:pPr>
            <a:endParaRPr/>
          </a:p>
          <a:p>
            <a:pPr lvl="1"/>
            <a:r>
              <a:t>Where does the AI answer look like a pass/HD?</a:t>
            </a:r>
            <a:br/>
            <a:endParaRPr/>
          </a:p>
          <a:p>
            <a:pPr marL="0" lvl="0" indent="0">
              <a:buNone/>
            </a:pPr>
            <a:endParaRPr/>
          </a:p>
          <a:p>
            <a:pPr lvl="1"/>
            <a:r>
              <a:t>Where is student thinking/judgement invisible?</a:t>
            </a:r>
            <a:br/>
            <a:endParaRPr/>
          </a:p>
          <a:p>
            <a:pPr marL="0" lvl="0" indent="0">
              <a:buNone/>
            </a:pPr>
            <a:endParaRPr/>
          </a:p>
          <a:p>
            <a:pPr lvl="1"/>
            <a:r>
              <a:t>What worries you most?</a:t>
            </a:r>
          </a:p>
          <a:p>
            <a:pPr marL="0" lvl="0" indent="0">
              <a:buNone/>
            </a:pPr>
            <a:endParaRPr/>
          </a:p>
          <a:p>
            <a:pPr marL="342900" lvl="0" indent="-342900">
              <a:buAutoNum type="arabicPeriod"/>
            </a:pPr>
            <a:r>
              <a:t>Step 3 – Redesign:</a:t>
            </a:r>
          </a:p>
          <a:p>
            <a:pPr marL="0" lvl="0" indent="0">
              <a:buNone/>
            </a:pPr>
            <a:endParaRPr/>
          </a:p>
          <a:p>
            <a:pPr lvl="1"/>
            <a:r>
              <a:t>Brainstorm 2–3 tweaks that would make student process more visible and allow transparent, limited AI use (e.g., in‑class element, AI use log, personal context).</a:t>
            </a:r>
          </a:p>
          <a:p>
            <a:pPr marL="0" lvl="0" indent="0">
              <a:buNone/>
            </a:pPr>
            <a:endParaRPr/>
          </a:p>
          <a:p>
            <a:pPr marL="0" lvl="0" indent="0">
              <a:buNone/>
            </a:pPr>
            <a:r>
              <a:t>Variants box:</a:t>
            </a:r>
          </a:p>
          <a:p>
            <a:pPr marL="0" lvl="0" indent="0">
              <a:buNone/>
            </a:pPr>
            <a:endParaRPr/>
          </a:p>
          <a:p>
            <a:pPr lvl="0"/>
            <a:r>
              <a:t>Researchers: stress‑test a grant section, data‑collection plan, or “impact” statement.</a:t>
            </a:r>
          </a:p>
          <a:p>
            <a:pPr marL="0" lvl="0" indent="0">
              <a:buNone/>
            </a:pPr>
            <a:endParaRPr/>
          </a:p>
          <a:p>
            <a:pPr lvl="0"/>
            <a:r>
              <a:t>Professional staff: stress‑test a process description or comms piece (e.g., special consideration instructions).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Purpose: “Make one small, realistic commitment about safe AI use in your context.”</a:t>
            </a:r>
          </a:p>
          <a:p>
            <a:pPr marL="0" lvl="0" indent="0">
              <a:buNone/>
            </a:pPr>
            <a:endParaRPr/>
          </a:p>
          <a:p>
            <a:pPr marL="0" lvl="0" indent="0">
              <a:buNone/>
            </a:pPr>
            <a:r>
              <a:t>“Secure, Safe, Sustainable AI – Why it matters”</a:t>
            </a:r>
          </a:p>
          <a:p>
            <a:pPr marL="0" lvl="0" indent="0">
              <a:buNone/>
            </a:pPr>
            <a:endParaRPr/>
          </a:p>
          <a:p>
            <a:pPr lvl="0"/>
            <a:r>
              <a:t>We now have enterprise Copilot (data protection) and tools like Turnitin Clarity.</a:t>
            </a:r>
            <a:br/>
            <a:endParaRPr/>
          </a:p>
          <a:p>
            <a:pPr marL="0" lvl="0" indent="0">
              <a:buNone/>
            </a:pPr>
            <a:endParaRPr/>
          </a:p>
          <a:p>
            <a:pPr lvl="0"/>
            <a:r>
              <a:t>Security ≠ safety ≠ good pedagogy.</a:t>
            </a:r>
            <a:br/>
            <a:endParaRPr/>
          </a:p>
          <a:p>
            <a:pPr marL="0" lvl="0" indent="0">
              <a:buNone/>
            </a:pPr>
            <a:endParaRPr/>
          </a:p>
          <a:p>
            <a:pPr lvl="0"/>
            <a:r>
              <a:t>We still need simple, explicit norms for:</a:t>
            </a:r>
          </a:p>
          <a:p>
            <a:pPr marL="0" lvl="0" indent="0">
              <a:buNone/>
            </a:pPr>
            <a:endParaRPr/>
          </a:p>
          <a:p>
            <a:pPr lvl="1"/>
            <a:r>
              <a:t>how we use AI in teaching</a:t>
            </a:r>
            <a:br/>
            <a:endParaRPr/>
          </a:p>
          <a:p>
            <a:pPr marL="0" lvl="0" indent="0">
              <a:buNone/>
            </a:pPr>
            <a:endParaRPr/>
          </a:p>
          <a:p>
            <a:pPr lvl="1"/>
            <a:r>
              <a:t>what we ask / allow from students</a:t>
            </a:r>
            <a:br/>
            <a:endParaRPr/>
          </a:p>
          <a:p>
            <a:pPr marL="0" lvl="0" indent="0">
              <a:buNone/>
            </a:pPr>
            <a:endParaRPr/>
          </a:p>
          <a:p>
            <a:pPr lvl="1"/>
            <a:r>
              <a:t>how this aligns with Assessment 2030 (human irreplaceability).</a:t>
            </a:r>
          </a:p>
          <a:p>
            <a:pPr marL="0" lvl="0" indent="0">
              <a:buNone/>
            </a:pPr>
            <a:endParaRPr/>
          </a:p>
          <a:p>
            <a:pPr marL="1270000" lvl="0" indent="0">
              <a:buNone/>
            </a:pPr>
            <a:r>
              <a:rPr sz="2000"/>
              <a:t>“The tools give us guardrails, but they don’t make decisions for us. This activity is about one small, concrete step you can take in your own unit.”</a:t>
            </a:r>
          </a:p>
          <a:p>
            <a:pPr marL="0" lvl="0" indent="0">
              <a:buNone/>
            </a:pPr>
            <a:endParaRPr sz="2000"/>
          </a:p>
          <a:p>
            <a:pPr marL="0" lvl="0" indent="0">
              <a:buNone/>
            </a:pPr>
            <a:r>
              <a:t>Core instructions:</a:t>
            </a:r>
          </a:p>
          <a:p>
            <a:pPr marL="0" lvl="0" indent="0">
              <a:buNone/>
            </a:pPr>
            <a:endParaRPr/>
          </a:p>
          <a:p>
            <a:pPr marL="342900" lvl="0" indent="-342900">
              <a:buAutoNum type="arabicPeriod"/>
            </a:pPr>
            <a:r>
              <a:t>Choose one micro‑task:</a:t>
            </a:r>
          </a:p>
          <a:p>
            <a:pPr marL="0" lvl="0" indent="0">
              <a:buNone/>
            </a:pPr>
            <a:endParaRPr/>
          </a:p>
          <a:p>
            <a:pPr lvl="1"/>
            <a:r>
              <a:t>A short “AI use in this unit/team” guideline,</a:t>
            </a:r>
            <a:br/>
            <a:endParaRPr/>
          </a:p>
          <a:p>
            <a:pPr marL="0" lvl="0" indent="0">
              <a:buNone/>
            </a:pPr>
            <a:endParaRPr/>
          </a:p>
          <a:p>
            <a:pPr lvl="1"/>
            <a:r>
              <a:t>A risk/benefit check for one planned AI use,</a:t>
            </a:r>
            <a:br/>
            <a:endParaRPr/>
          </a:p>
          <a:p>
            <a:pPr marL="0" lvl="0" indent="0">
              <a:buNone/>
            </a:pPr>
            <a:endParaRPr/>
          </a:p>
          <a:p>
            <a:pPr lvl="1"/>
            <a:r>
              <a:t>A Week‑1 statement for students/staff.</a:t>
            </a:r>
          </a:p>
          <a:p>
            <a:pPr marL="0" lvl="0" indent="0">
              <a:buNone/>
            </a:pPr>
            <a:endParaRPr/>
          </a:p>
          <a:p>
            <a:pPr marL="342900" lvl="0" indent="-342900">
              <a:buAutoNum type="arabicPeriod"/>
            </a:pPr>
            <a:r>
              <a:t>Use AI to draft it (or write by hand).</a:t>
            </a:r>
          </a:p>
          <a:p>
            <a:pPr marL="0" lvl="0" indent="0">
              <a:buNone/>
            </a:pPr>
            <a:endParaRPr/>
          </a:p>
          <a:p>
            <a:pPr marL="342900" lvl="0" indent="-342900">
              <a:buAutoNum type="arabicPeriod"/>
            </a:pPr>
            <a:r>
              <a:t>Edit to:</a:t>
            </a:r>
          </a:p>
          <a:p>
            <a:pPr marL="0" lvl="0" indent="0">
              <a:buNone/>
            </a:pPr>
            <a:endParaRPr/>
          </a:p>
          <a:p>
            <a:pPr lvl="1"/>
            <a:r>
              <a:t>Fit your tone,</a:t>
            </a:r>
            <a:br/>
            <a:endParaRPr/>
          </a:p>
          <a:p>
            <a:pPr marL="0" lvl="0" indent="0">
              <a:buNone/>
            </a:pPr>
            <a:endParaRPr/>
          </a:p>
          <a:p>
            <a:pPr lvl="1"/>
            <a:r>
              <a:t>Align with policy,</a:t>
            </a:r>
            <a:br/>
            <a:endParaRPr/>
          </a:p>
          <a:p>
            <a:pPr marL="0" lvl="0" indent="0">
              <a:buNone/>
            </a:pPr>
            <a:endParaRPr/>
          </a:p>
          <a:p>
            <a:pPr lvl="1"/>
            <a:r>
              <a:t>Emphasise human judgement and transparency.</a:t>
            </a:r>
          </a:p>
          <a:p>
            <a:pPr marL="0" lvl="0" indent="0">
              <a:buNone/>
            </a:pPr>
            <a:endParaRPr/>
          </a:p>
          <a:p>
            <a:pPr marL="0" lvl="0" indent="0">
              <a:buNone/>
            </a:pPr>
            <a:r>
              <a:t>Variants box:</a:t>
            </a:r>
          </a:p>
          <a:p>
            <a:pPr marL="0" lvl="0" indent="0">
              <a:buNone/>
            </a:pPr>
            <a:endParaRPr/>
          </a:p>
          <a:p>
            <a:pPr lvl="0"/>
            <a:r>
              <a:t>Researchers: “AI in this project” statement; risk check for AI in data analysis or writing.</a:t>
            </a:r>
          </a:p>
          <a:p>
            <a:pPr marL="0" lvl="0" indent="0">
              <a:buNone/>
            </a:pPr>
            <a:endParaRPr/>
          </a:p>
          <a:p>
            <a:pPr lvl="0"/>
            <a:r>
              <a:t>Professional staff: “AI in this team” guideline; student‑facing statement about how you’ll (not) use AI on their data.</a:t>
            </a:r>
          </a:p>
          <a:p>
            <a:pPr marL="0" lvl="0" indent="0">
              <a:buNone/>
            </a:pPr>
            <a:endParaRPr/>
          </a:p>
          <a:p>
            <a:pPr lvl="0"/>
            <a:r>
              <a:t>If the morning session already had heavy discussion on privacy/ethics, you can:</a:t>
            </a:r>
          </a:p>
          <a:p>
            <a:pPr marL="0" lvl="0" indent="0">
              <a:buNone/>
            </a:pPr>
            <a:endParaRPr/>
          </a:p>
          <a:p>
            <a:pPr lvl="1"/>
            <a:r>
              <a:t>Shrink Activity 5 to a 5–7 minute micro‑task, not a big new block.</a:t>
            </a:r>
          </a:p>
          <a:p>
            <a:pPr marL="0" lvl="0" indent="0">
              <a:buNone/>
            </a:pPr>
            <a:endParaRPr/>
          </a:p>
          <a:p>
            <a:pPr lvl="1"/>
            <a:r>
              <a:t>Focus on one concrete output:</a:t>
            </a:r>
          </a:p>
          <a:p>
            <a:pPr marL="0" lvl="0" indent="0">
              <a:buNone/>
            </a:pPr>
            <a:endParaRPr/>
          </a:p>
          <a:p>
            <a:pPr lvl="2"/>
            <a:r>
              <a:t>Option 1 (if they’re fresh): run the 3‑option micro‑task we designed (guideline, risk check, Week‑1 statement).</a:t>
            </a:r>
          </a:p>
          <a:p>
            <a:pPr marL="0" lvl="0" indent="0">
              <a:buNone/>
            </a:pPr>
            <a:endParaRPr/>
          </a:p>
          <a:p>
            <a:pPr lvl="2"/>
            <a:r>
              <a:t>Option 2 (if they’re exhausted): just do one thing: &gt; “Take 3 minutes to draft a single sentence you could say to your students in Week 1 about how AI may be used in this unit, in a way that supports human judgement and Assessment 2030. You can use AI to help, or just write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Suggested closing thread:</a:t>
            </a:r>
          </a:p>
          <a:p>
            <a:pPr marL="0" lvl="0" indent="0">
              <a:buNone/>
            </a:pPr>
            <a:endParaRPr b="1" dirty="0"/>
          </a:p>
          <a:p>
            <a:pPr lvl="0"/>
            <a:r>
              <a:rPr b="1" dirty="0"/>
              <a:t>Recap the journey</a:t>
            </a:r>
            <a:r>
              <a:rPr dirty="0"/>
              <a:t> very briefly:</a:t>
            </a:r>
          </a:p>
          <a:p>
            <a:pPr marL="0" lvl="0" indent="0">
              <a:buNone/>
            </a:pPr>
            <a:endParaRPr dirty="0"/>
          </a:p>
          <a:p>
            <a:pPr lvl="1"/>
            <a:r>
              <a:rPr dirty="0"/>
              <a:t>“We started by seeing how AI can </a:t>
            </a:r>
            <a:r>
              <a:rPr b="1" dirty="0"/>
              <a:t>automate tedious tasks</a:t>
            </a:r>
            <a:r>
              <a:rPr dirty="0"/>
              <a:t> and draft first versions for us.</a:t>
            </a:r>
            <a:br>
              <a:rPr dirty="0"/>
            </a:br>
            <a:r>
              <a:rPr dirty="0"/>
              <a:t>We then worked on </a:t>
            </a:r>
            <a:r>
              <a:rPr b="1" dirty="0"/>
              <a:t>designing better prompts</a:t>
            </a:r>
            <a:r>
              <a:rPr dirty="0"/>
              <a:t>, </a:t>
            </a:r>
            <a:r>
              <a:rPr b="1" dirty="0"/>
              <a:t>critiquing AI outputs</a:t>
            </a:r>
            <a:r>
              <a:rPr dirty="0"/>
              <a:t>, and finally </a:t>
            </a:r>
            <a:r>
              <a:rPr b="1" dirty="0"/>
              <a:t>stress‑testing our assessments</a:t>
            </a:r>
            <a:r>
              <a:rPr dirty="0"/>
              <a:t> and thinking about </a:t>
            </a:r>
            <a:r>
              <a:rPr b="1" dirty="0"/>
              <a:t>safe, sustainable use</a:t>
            </a:r>
            <a:r>
              <a:rPr dirty="0"/>
              <a:t>.”</a:t>
            </a:r>
          </a:p>
          <a:p>
            <a:pPr marL="0" lvl="0" indent="0">
              <a:buNone/>
            </a:pPr>
            <a:endParaRPr dirty="0"/>
          </a:p>
          <a:p>
            <a:pPr lvl="0"/>
            <a:r>
              <a:rPr b="1" dirty="0"/>
              <a:t>Tie back to Assessment 2030 and your stance:</a:t>
            </a:r>
          </a:p>
          <a:p>
            <a:pPr marL="0" lvl="0" indent="0">
              <a:buNone/>
            </a:pPr>
            <a:endParaRPr b="1" dirty="0"/>
          </a:p>
          <a:p>
            <a:pPr lvl="1"/>
            <a:r>
              <a:rPr dirty="0"/>
              <a:t>“All of that sits inside the Assessment 2030 idea: we’re not trying to ban AI, and we’re not blindly embracing it. We’re redesigning assessment and teaching so that </a:t>
            </a:r>
            <a:r>
              <a:rPr b="1" dirty="0"/>
              <a:t>student judgement, process, and human skills</a:t>
            </a:r>
            <a:r>
              <a:rPr dirty="0"/>
              <a:t> are what really matter.”</a:t>
            </a:r>
          </a:p>
          <a:p>
            <a:pPr marL="0" lvl="0" indent="0">
              <a:buNone/>
            </a:pPr>
            <a:endParaRPr dirty="0"/>
          </a:p>
          <a:p>
            <a:pPr lvl="0"/>
            <a:r>
              <a:rPr b="1" dirty="0"/>
              <a:t>Reinforce the human edge:</a:t>
            </a:r>
          </a:p>
          <a:p>
            <a:pPr marL="0" lvl="0" indent="0">
              <a:buNone/>
            </a:pPr>
            <a:endParaRPr b="1" dirty="0"/>
          </a:p>
          <a:p>
            <a:pPr lvl="1"/>
            <a:r>
              <a:rPr dirty="0"/>
              <a:t>“As more routine writing and </a:t>
            </a:r>
            <a:r>
              <a:rPr dirty="0" err="1"/>
              <a:t>summarising</a:t>
            </a:r>
            <a:r>
              <a:rPr dirty="0"/>
              <a:t> gets automated, the value of what only we can do – </a:t>
            </a:r>
            <a:r>
              <a:rPr b="1" dirty="0"/>
              <a:t>empathy, feedback, facilitation, contextual judgement</a:t>
            </a:r>
            <a:r>
              <a:rPr dirty="0"/>
              <a:t> – actually goes up. AI is the infrastructure; our job is to design how it supports learning, not replaces it.”</a:t>
            </a:r>
          </a:p>
          <a:p>
            <a:pPr marL="0" lvl="0" indent="0">
              <a:buNone/>
            </a:pPr>
            <a:endParaRPr dirty="0"/>
          </a:p>
          <a:p>
            <a:pPr lvl="0"/>
            <a:r>
              <a:rPr b="1" dirty="0"/>
              <a:t>Point to next steps and resources:</a:t>
            </a:r>
          </a:p>
          <a:p>
            <a:pPr marL="0" lvl="0" indent="0">
              <a:buNone/>
            </a:pPr>
            <a:endParaRPr b="1" dirty="0"/>
          </a:p>
          <a:p>
            <a:pPr lvl="1"/>
            <a:r>
              <a:rPr dirty="0"/>
              <a:t>“If you want to keep experimenting, the companion website has the handouts, prompt frameworks, and references we’ve touched on today. You can pick one activity and try it in a small way in your own unit or team.”</a:t>
            </a:r>
          </a:p>
          <a:p>
            <a:pPr marL="0" lvl="0" indent="0">
              <a:buNone/>
            </a:pPr>
            <a:endParaRPr dirty="0"/>
          </a:p>
          <a:p>
            <a:pPr marL="0" lvl="0" indent="0">
              <a:buNone/>
            </a:pPr>
            <a:r>
              <a:rPr b="1" dirty="0"/>
              <a:t>Pause for questions (no dedicated Q&amp;A slide):</a:t>
            </a:r>
          </a:p>
          <a:p>
            <a:pPr marL="0" lvl="0" indent="0">
              <a:buNone/>
            </a:pPr>
            <a:endParaRPr b="1" dirty="0"/>
          </a:p>
          <a:p>
            <a:pPr marL="1270000" lvl="0" indent="0">
              <a:buNone/>
            </a:pPr>
            <a:r>
              <a:rPr sz="2000" dirty="0"/>
              <a:t>“I’ll pause here – what questions, worries, or ideas are bubbling up for you? They can be about the tools, the activities, or how this fits with Assessment 2030 in your own context.”</a:t>
            </a:r>
          </a:p>
          <a:p>
            <a:pPr marL="0" lvl="0" indent="0">
              <a:buNone/>
            </a:pPr>
            <a:endParaRPr sz="2000" dirty="0"/>
          </a:p>
          <a:p>
            <a:pPr marL="0" lvl="0" indent="0">
              <a:buNone/>
            </a:pPr>
            <a:r>
              <a:rPr dirty="0"/>
              <a:t>Because this is an internal session, you can close informally, for example:</a:t>
            </a:r>
          </a:p>
          <a:p>
            <a:pPr marL="0" lvl="0" indent="0">
              <a:buNone/>
            </a:pPr>
            <a:endParaRPr dirty="0"/>
          </a:p>
          <a:p>
            <a:pPr marL="1270000" lvl="0" indent="0">
              <a:buNone/>
            </a:pPr>
            <a:r>
              <a:rPr sz="2000" dirty="0"/>
              <a:t>“If things come to you later, feel free to grab me in the corridor, drop me a message, or send through a sample assessment you’d like to stress‑test. I’m very happy to keep working on this with you.”</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slide is mainly for people who scroll the deck later and want to see </a:t>
            </a:r>
            <a:r>
              <a:rPr b="1"/>
              <a:t>which references connect to which ideas</a:t>
            </a:r>
            <a:r>
              <a:t>. You don’t have to talk through it, but you can point participants to the full References page on the website if they want to explore further.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11/17/25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11/17/25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11/17/25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11/17/25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11/17/25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11/17/25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11/17/25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11/17/25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marL="0" lvl="0" indent="0">
              <a:buNone/>
            </a:pPr>
            <a:r>
              <a:t>AI in Pedagogical Design and Delivery</a:t>
            </a:r>
          </a:p>
        </p:txBody>
      </p:sp>
      <p:sp>
        <p:nvSpPr>
          <p:cNvPr id="3" name="Subtitle 2"/>
          <p:cNvSpPr>
            <a:spLocks noGrp="1"/>
          </p:cNvSpPr>
          <p:nvPr>
            <p:ph type="subTitle" idx="1"/>
          </p:nvPr>
        </p:nvSpPr>
        <p:spPr>
          <a:xfrm>
            <a:off x="1371600" y="2914650"/>
            <a:ext cx="6400800" cy="1314450"/>
          </a:xfrm>
        </p:spPr>
        <p:txBody>
          <a:bodyPr/>
          <a:lstStyle/>
          <a:p>
            <a:pPr marL="0" lvl="0" indent="0">
              <a:buNone/>
            </a:pPr>
            <a:br/>
            <a:br/>
            <a:r>
              <a:t>Michael Borck</a:t>
            </a:r>
          </a:p>
        </p:txBody>
      </p:sp>
      <p:sp>
        <p:nvSpPr>
          <p:cNvPr id="4" name="Date Placeholder 3"/>
          <p:cNvSpPr>
            <a:spLocks noGrp="1"/>
          </p:cNvSpPr>
          <p:nvPr>
            <p:ph type="dt" sz="half" idx="10"/>
          </p:nvPr>
        </p:nvSpPr>
        <p:spPr/>
        <p:txBody>
          <a:bodyPr/>
          <a:lstStyle/>
          <a:p>
            <a:pPr marL="0" lvl="0" indent="0">
              <a:buNone/>
            </a:pPr>
            <a:r>
              <a:t>2025-11-17</a:t>
            </a:r>
          </a:p>
        </p:txBody>
      </p:sp>
      <p:pic>
        <p:nvPicPr>
          <p:cNvPr id="5" name="Picture 1" descr="../docs/images/copilot-2-sigma.png">
            <a:extLst>
              <a:ext uri="{FF2B5EF4-FFF2-40B4-BE49-F238E27FC236}">
                <a16:creationId xmlns:a16="http://schemas.microsoft.com/office/drawing/2014/main" id="{C3A21620-66A7-3AE4-3A1B-EB7C6754CBBA}"/>
              </a:ext>
            </a:extLst>
          </p:cNvPr>
          <p:cNvPicPr>
            <a:picLocks noGrp="1" noChangeAspect="1"/>
          </p:cNvPicPr>
          <p:nvPr/>
        </p:nvPicPr>
        <p:blipFill>
          <a:blip r:embed="rId3"/>
          <a:stretch>
            <a:fillRect/>
          </a:stretch>
        </p:blipFill>
        <p:spPr bwMode="auto">
          <a:xfrm>
            <a:off x="1854200" y="1193800"/>
            <a:ext cx="5422900" cy="3390900"/>
          </a:xfrm>
          <a:prstGeom prst="rect">
            <a:avLst/>
          </a:prstGeom>
          <a:noFill/>
          <a:ln w="9525">
            <a:noFill/>
            <a:headEnd/>
            <a:tailEnd/>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We’ll Do Today</a:t>
            </a:r>
          </a:p>
        </p:txBody>
      </p:sp>
      <p:sp>
        <p:nvSpPr>
          <p:cNvPr id="3" name="Content Placeholder 2"/>
          <p:cNvSpPr>
            <a:spLocks noGrp="1"/>
          </p:cNvSpPr>
          <p:nvPr>
            <p:ph idx="1"/>
          </p:nvPr>
        </p:nvSpPr>
        <p:spPr/>
        <p:txBody>
          <a:bodyPr>
            <a:normAutofit fontScale="77500" lnSpcReduction="20000"/>
          </a:bodyPr>
          <a:lstStyle/>
          <a:p>
            <a:pPr lvl="0"/>
            <a:r>
              <a:t>Set the scene: AI, Assessment 2030, and your context</a:t>
            </a:r>
            <a:br/>
            <a:endParaRPr/>
          </a:p>
          <a:p>
            <a:pPr lvl="0"/>
            <a:r>
              <a:t>Try out 5 hands‑on activities:</a:t>
            </a:r>
          </a:p>
          <a:p>
            <a:pPr lvl="1"/>
            <a:r>
              <a:t>Automate some of the tedious work</a:t>
            </a:r>
            <a:br/>
            <a:endParaRPr/>
          </a:p>
          <a:p>
            <a:pPr lvl="1"/>
            <a:r>
              <a:t>Design better prompts</a:t>
            </a:r>
            <a:br/>
            <a:endParaRPr/>
          </a:p>
          <a:p>
            <a:pPr lvl="1"/>
            <a:r>
              <a:t>Critique AI outputs with a simple framework</a:t>
            </a:r>
            <a:br/>
            <a:endParaRPr/>
          </a:p>
          <a:p>
            <a:pPr lvl="1"/>
            <a:r>
              <a:t>Use AI in a multi‑step workflow to probe or redesign a task</a:t>
            </a:r>
            <a:br/>
            <a:endParaRPr/>
          </a:p>
          <a:p>
            <a:pPr lvl="1"/>
            <a:r>
              <a:t>Make one small commitment about safe AI use</a:t>
            </a:r>
            <a:br/>
            <a:endParaRPr/>
          </a:p>
          <a:p>
            <a:pPr lvl="0"/>
            <a:r>
              <a:t>Wrap up with key takeaways and next steps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Intelligent Tutoring Systems (ITS)</a:t>
            </a:r>
          </a:p>
        </p:txBody>
      </p:sp>
      <p:pic>
        <p:nvPicPr>
          <p:cNvPr id="3" name="Picture 1" descr="../docs/images/itts-paths_nobg.png"/>
          <p:cNvPicPr>
            <a:picLocks noGrp="1" noChangeAspect="1"/>
          </p:cNvPicPr>
          <p:nvPr/>
        </p:nvPicPr>
        <p:blipFill>
          <a:blip r:embed="rId3">
            <a:extLst>
              <a:ext uri="{BEBA8EAE-BF5A-486C-A8C5-ECC9F3942E4B}">
                <a14:imgProps xmlns:a14="http://schemas.microsoft.com/office/drawing/2010/main">
                  <a14:imgLayer r:embed="rId4">
                    <a14:imgEffect>
                      <a14:brightnessContrast bright="-100000" contrast="100000"/>
                    </a14:imgEffect>
                  </a14:imgLayer>
                </a14:imgProps>
              </a:ext>
            </a:extLst>
          </a:blip>
          <a:stretch>
            <a:fillRect/>
          </a:stretch>
        </p:blipFill>
        <p:spPr bwMode="auto">
          <a:xfrm>
            <a:off x="585216" y="729488"/>
            <a:ext cx="7717536" cy="4414012"/>
          </a:xfrm>
          <a:prstGeom prst="rect">
            <a:avLst/>
          </a:prstGeom>
          <a:noFill/>
          <a:ln w="9525">
            <a:noFill/>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Architect (Pedagogical Design)</a:t>
            </a:r>
          </a:p>
        </p:txBody>
      </p:sp>
      <p:pic>
        <p:nvPicPr>
          <p:cNvPr id="3" name="Picture 1" descr="../docs/images/architect_nobg.png"/>
          <p:cNvPicPr>
            <a:picLocks noGrp="1" noChangeAspect="1"/>
          </p:cNvPicPr>
          <p:nvPr/>
        </p:nvPicPr>
        <p:blipFill>
          <a:blip r:embed="rId3"/>
          <a:stretch>
            <a:fillRect/>
          </a:stretch>
        </p:blipFill>
        <p:spPr bwMode="auto">
          <a:xfrm>
            <a:off x="676656" y="852693"/>
            <a:ext cx="7187184" cy="4084828"/>
          </a:xfrm>
          <a:prstGeom prst="rect">
            <a:avLst/>
          </a:prstGeom>
          <a:noFill/>
          <a:ln w="9525">
            <a:noFill/>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Practitioner (Pedagogical Delivery)</a:t>
            </a:r>
          </a:p>
        </p:txBody>
      </p:sp>
      <p:pic>
        <p:nvPicPr>
          <p:cNvPr id="3" name="Picture 1" descr="../docs/images/ai-copilot_nobg.png"/>
          <p:cNvPicPr>
            <a:picLocks noGrp="1" noChangeAspect="1"/>
          </p:cNvPicPr>
          <p:nvPr/>
        </p:nvPicPr>
        <p:blipFill>
          <a:blip r:embed="rId3"/>
          <a:stretch>
            <a:fillRect/>
          </a:stretch>
        </p:blipFill>
        <p:spPr bwMode="auto">
          <a:xfrm>
            <a:off x="457200" y="425704"/>
            <a:ext cx="8229600" cy="5072380"/>
          </a:xfrm>
          <a:prstGeom prst="rect">
            <a:avLst/>
          </a:prstGeom>
          <a:noFill/>
          <a:ln w="9525">
            <a:noFill/>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Challenges &amp; Limitations</a:t>
            </a:r>
          </a:p>
        </p:txBody>
      </p:sp>
      <p:pic>
        <p:nvPicPr>
          <p:cNvPr id="3" name="Picture 1" descr="../docs/images/challenges_nobg.png"/>
          <p:cNvPicPr>
            <a:picLocks noGrp="1" noChangeAspect="1"/>
          </p:cNvPicPr>
          <p:nvPr/>
        </p:nvPicPr>
        <p:blipFill>
          <a:blip r:embed="rId3"/>
          <a:srcRect b="8127"/>
          <a:stretch>
            <a:fillRect/>
          </a:stretch>
        </p:blipFill>
        <p:spPr bwMode="auto">
          <a:xfrm>
            <a:off x="621792" y="634604"/>
            <a:ext cx="7790688" cy="4508896"/>
          </a:xfrm>
          <a:prstGeom prst="rect">
            <a:avLst/>
          </a:prstGeom>
          <a:noFill/>
          <a:ln w="9525">
            <a:noFill/>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Evolving Role of the Educator</a:t>
            </a:r>
          </a:p>
        </p:txBody>
      </p:sp>
      <p:pic>
        <p:nvPicPr>
          <p:cNvPr id="3" name="Picture 1" descr="../docs/images/rising-tide_nobg.png"/>
          <p:cNvPicPr>
            <a:picLocks noGrp="1" noChangeAspect="1"/>
          </p:cNvPicPr>
          <p:nvPr/>
        </p:nvPicPr>
        <p:blipFill>
          <a:blip r:embed="rId3"/>
          <a:srcRect t="25190" b="12734"/>
          <a:stretch>
            <a:fillRect/>
          </a:stretch>
        </p:blipFill>
        <p:spPr bwMode="auto">
          <a:xfrm>
            <a:off x="1121410" y="859536"/>
            <a:ext cx="6901180" cy="4283964"/>
          </a:xfrm>
          <a:prstGeom prst="rect">
            <a:avLst/>
          </a:prstGeom>
          <a:noFill/>
          <a:ln w="9525">
            <a:noFill/>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1: Automate the Tedious</a:t>
            </a:r>
          </a:p>
        </p:txBody>
      </p:sp>
      <p:pic>
        <p:nvPicPr>
          <p:cNvPr id="3" name="Picture 1" descr="../docs/images/automate_nobg.png"/>
          <p:cNvPicPr>
            <a:picLocks noGrp="1" noChangeAspect="1"/>
          </p:cNvPicPr>
          <p:nvPr/>
        </p:nvPicPr>
        <p:blipFill>
          <a:blip r:embed="rId3"/>
          <a:stretch>
            <a:fillRect/>
          </a:stretch>
        </p:blipFill>
        <p:spPr bwMode="auto">
          <a:xfrm>
            <a:off x="1481328" y="498058"/>
            <a:ext cx="6489700" cy="4645442"/>
          </a:xfrm>
          <a:prstGeom prst="rect">
            <a:avLst/>
          </a:prstGeom>
          <a:noFill/>
          <a:ln w="9525">
            <a:noFill/>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2: The Art of the Prompt</a:t>
            </a:r>
          </a:p>
        </p:txBody>
      </p:sp>
      <p:pic>
        <p:nvPicPr>
          <p:cNvPr id="3" name="Picture 1" descr="../docs/images/prompt_nobg.png"/>
          <p:cNvPicPr>
            <a:picLocks noGrp="1" noChangeAspect="1"/>
          </p:cNvPicPr>
          <p:nvPr/>
        </p:nvPicPr>
        <p:blipFill>
          <a:blip r:embed="rId3"/>
          <a:srcRect t="7085" b="12448"/>
          <a:stretch>
            <a:fillRect/>
          </a:stretch>
        </p:blipFill>
        <p:spPr bwMode="auto">
          <a:xfrm>
            <a:off x="457200" y="841248"/>
            <a:ext cx="8229600" cy="4096273"/>
          </a:xfrm>
          <a:prstGeom prst="rect">
            <a:avLst/>
          </a:prstGeom>
          <a:noFill/>
          <a:ln w="9525">
            <a:noFill/>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3: Your 5-Step Critique Framework</a:t>
            </a:r>
          </a:p>
        </p:txBody>
      </p:sp>
      <p:pic>
        <p:nvPicPr>
          <p:cNvPr id="3" name="Picture 1" descr="../docs/images/check_nobg.png"/>
          <p:cNvPicPr>
            <a:picLocks noGrp="1" noChangeAspect="1"/>
          </p:cNvPicPr>
          <p:nvPr/>
        </p:nvPicPr>
        <p:blipFill>
          <a:blip r:embed="rId3"/>
          <a:srcRect t="17150" b="17036"/>
          <a:stretch>
            <a:fillRect/>
          </a:stretch>
        </p:blipFill>
        <p:spPr bwMode="auto">
          <a:xfrm>
            <a:off x="0" y="1063228"/>
            <a:ext cx="9144000" cy="4080271"/>
          </a:xfrm>
          <a:prstGeom prst="rect">
            <a:avLst/>
          </a:prstGeom>
          <a:noFill/>
          <a:ln w="9525">
            <a:noFill/>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4: Unlocking The Impossible</a:t>
            </a:r>
          </a:p>
        </p:txBody>
      </p:sp>
      <p:pic>
        <p:nvPicPr>
          <p:cNvPr id="3" name="Picture 1" descr="../docs/images/stress_nobg.png"/>
          <p:cNvPicPr>
            <a:picLocks noGrp="1" noChangeAspect="1"/>
          </p:cNvPicPr>
          <p:nvPr/>
        </p:nvPicPr>
        <p:blipFill>
          <a:blip r:embed="rId3"/>
          <a:stretch>
            <a:fillRect/>
          </a:stretch>
        </p:blipFill>
        <p:spPr bwMode="auto">
          <a:xfrm>
            <a:off x="932688" y="1054989"/>
            <a:ext cx="6986016" cy="3882532"/>
          </a:xfrm>
          <a:prstGeom prst="rect">
            <a:avLst/>
          </a:prstGeom>
          <a:noFill/>
          <a:ln w="9525">
            <a:noFill/>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Activity 5: Secure, Safe, and Sustainable AI</a:t>
            </a:r>
          </a:p>
        </p:txBody>
      </p:sp>
      <p:pic>
        <p:nvPicPr>
          <p:cNvPr id="3" name="Picture 1" descr="../docs/images/safety_nobg.png"/>
          <p:cNvPicPr>
            <a:picLocks noGrp="1" noChangeAspect="1"/>
          </p:cNvPicPr>
          <p:nvPr/>
        </p:nvPicPr>
        <p:blipFill>
          <a:blip r:embed="rId3"/>
          <a:srcRect l="18214" t="8602" r="12413" b="7796"/>
          <a:stretch>
            <a:fillRect/>
          </a:stretch>
        </p:blipFill>
        <p:spPr bwMode="auto">
          <a:xfrm>
            <a:off x="2066544" y="877824"/>
            <a:ext cx="5468112" cy="4265676"/>
          </a:xfrm>
          <a:prstGeom prst="rect">
            <a:avLst/>
          </a:prstGeom>
          <a:noFill/>
          <a:ln w="9525">
            <a:noFill/>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Wrap-Up &amp; Next Steps</a:t>
            </a:r>
          </a:p>
        </p:txBody>
      </p:sp>
      <p:pic>
        <p:nvPicPr>
          <p:cNvPr id="3" name="Picture 1" descr="../docs/images/next_nobg.png"/>
          <p:cNvPicPr>
            <a:picLocks noGrp="1" noChangeAspect="1"/>
          </p:cNvPicPr>
          <p:nvPr/>
        </p:nvPicPr>
        <p:blipFill>
          <a:blip r:embed="rId3"/>
          <a:stretch>
            <a:fillRect/>
          </a:stretch>
        </p:blipFill>
        <p:spPr bwMode="auto">
          <a:xfrm>
            <a:off x="457200" y="804672"/>
            <a:ext cx="8229600" cy="4338828"/>
          </a:xfrm>
          <a:prstGeom prst="rect">
            <a:avLst/>
          </a:prstGeom>
          <a:noFill/>
          <a:ln w="9525">
            <a:noFill/>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extLst>
              <p:ext uri="{D42A27DB-BD31-4B8C-83A1-F6EECF244321}">
                <p14:modId xmlns:p14="http://schemas.microsoft.com/office/powerpoint/2010/main" val="3518197034"/>
              </p:ext>
            </p:extLst>
          </p:nvPr>
        </p:nvGraphicFramePr>
        <p:xfrm>
          <a:off x="0" y="211880"/>
          <a:ext cx="9144000" cy="4719740"/>
        </p:xfrm>
        <a:graphic>
          <a:graphicData uri="http://schemas.openxmlformats.org/drawingml/2006/table">
            <a:tbl>
              <a:tblPr firstRow="1" bandRow="1">
                <a:tableStyleId>{5C22544A-7EE6-4342-B048-85BDC9FD1C3A}</a:tableStyleId>
              </a:tblPr>
              <a:tblGrid>
                <a:gridCol w="2889504">
                  <a:extLst>
                    <a:ext uri="{9D8B030D-6E8A-4147-A177-3AD203B41FA5}">
                      <a16:colId xmlns:a16="http://schemas.microsoft.com/office/drawing/2014/main" val="20000"/>
                    </a:ext>
                  </a:extLst>
                </a:gridCol>
                <a:gridCol w="6254496">
                  <a:extLst>
                    <a:ext uri="{9D8B030D-6E8A-4147-A177-3AD203B41FA5}">
                      <a16:colId xmlns:a16="http://schemas.microsoft.com/office/drawing/2014/main" val="20001"/>
                    </a:ext>
                  </a:extLst>
                </a:gridCol>
              </a:tblGrid>
              <a:tr h="225486">
                <a:tc>
                  <a:txBody>
                    <a:bodyPr/>
                    <a:lstStyle/>
                    <a:p>
                      <a:pPr marL="0" lvl="0" indent="0">
                        <a:buNone/>
                      </a:pPr>
                      <a:r>
                        <a:t>Reference (short)</a:t>
                      </a:r>
                    </a:p>
                  </a:txBody>
                  <a:tcPr/>
                </a:tc>
                <a:tc>
                  <a:txBody>
                    <a:bodyPr/>
                    <a:lstStyle/>
                    <a:p>
                      <a:pPr marL="0" lvl="0" indent="0">
                        <a:buNone/>
                      </a:pPr>
                      <a:r>
                        <a:t>Main slide(s) / themes</a:t>
                      </a:r>
                    </a:p>
                  </a:txBody>
                  <a:tcPr/>
                </a:tc>
                <a:extLst>
                  <a:ext uri="{0D108BD9-81ED-4DB2-BD59-A6C34878D82A}">
                    <a16:rowId xmlns:a16="http://schemas.microsoft.com/office/drawing/2014/main" val="10000"/>
                  </a:ext>
                </a:extLst>
              </a:tr>
              <a:tr h="381592">
                <a:tc>
                  <a:txBody>
                    <a:bodyPr/>
                    <a:lstStyle/>
                    <a:p>
                      <a:pPr marL="0" lvl="0" indent="0">
                        <a:buNone/>
                      </a:pPr>
                      <a:r>
                        <a:rPr dirty="0"/>
                        <a:t>Bloom (1984) – 2 Sigma Problem</a:t>
                      </a:r>
                    </a:p>
                  </a:txBody>
                  <a:tcPr/>
                </a:tc>
                <a:tc>
                  <a:txBody>
                    <a:bodyPr/>
                    <a:lstStyle/>
                    <a:p>
                      <a:pPr marL="0" lvl="0" indent="0">
                        <a:buNone/>
                      </a:pPr>
                      <a:r>
                        <a:t>Welcome &amp; AI Landscape (1‑to‑1 tutoring vs classroom; what we’re trying to approximate).</a:t>
                      </a:r>
                    </a:p>
                  </a:txBody>
                  <a:tcPr/>
                </a:tc>
                <a:extLst>
                  <a:ext uri="{0D108BD9-81ED-4DB2-BD59-A6C34878D82A}">
                    <a16:rowId xmlns:a16="http://schemas.microsoft.com/office/drawing/2014/main" val="10001"/>
                  </a:ext>
                </a:extLst>
              </a:tr>
              <a:tr h="381592">
                <a:tc>
                  <a:txBody>
                    <a:bodyPr/>
                    <a:lstStyle/>
                    <a:p>
                      <a:pPr marL="0" lvl="0" indent="0">
                        <a:buNone/>
                      </a:pPr>
                      <a:r>
                        <a:rPr dirty="0"/>
                        <a:t>Sal Khan TED (2023) – </a:t>
                      </a:r>
                      <a:r>
                        <a:rPr i="1" dirty="0"/>
                        <a:t>How AI Could Save (Not Destroy) Education</a:t>
                      </a:r>
                    </a:p>
                  </a:txBody>
                  <a:tcPr/>
                </a:tc>
                <a:tc>
                  <a:txBody>
                    <a:bodyPr/>
                    <a:lstStyle/>
                    <a:p>
                      <a:pPr marL="0" lvl="0" indent="0">
                        <a:buNone/>
                      </a:pPr>
                      <a:r>
                        <a:t>Welcome (idea of AI tutor for every student, AI assistant for every teacher).</a:t>
                      </a:r>
                    </a:p>
                  </a:txBody>
                  <a:tcPr/>
                </a:tc>
                <a:extLst>
                  <a:ext uri="{0D108BD9-81ED-4DB2-BD59-A6C34878D82A}">
                    <a16:rowId xmlns:a16="http://schemas.microsoft.com/office/drawing/2014/main" val="10002"/>
                  </a:ext>
                </a:extLst>
              </a:tr>
              <a:tr h="381592">
                <a:tc>
                  <a:txBody>
                    <a:bodyPr/>
                    <a:lstStyle/>
                    <a:p>
                      <a:pPr marL="0" lvl="0" indent="0">
                        <a:buNone/>
                      </a:pPr>
                      <a:r>
                        <a:t>Noroozi et al. (2025)</a:t>
                      </a:r>
                    </a:p>
                  </a:txBody>
                  <a:tcPr/>
                </a:tc>
                <a:tc>
                  <a:txBody>
                    <a:bodyPr/>
                    <a:lstStyle/>
                    <a:p>
                      <a:pPr marL="0" lvl="0" indent="0">
                        <a:buNone/>
                      </a:pPr>
                      <a:r>
                        <a:t>Practitioner (human agency, real‑time intervention); Challenges &amp; Limitations; Evolving Role of the Educator.</a:t>
                      </a:r>
                    </a:p>
                  </a:txBody>
                  <a:tcPr/>
                </a:tc>
                <a:extLst>
                  <a:ext uri="{0D108BD9-81ED-4DB2-BD59-A6C34878D82A}">
                    <a16:rowId xmlns:a16="http://schemas.microsoft.com/office/drawing/2014/main" val="10003"/>
                  </a:ext>
                </a:extLst>
              </a:tr>
              <a:tr h="381592">
                <a:tc>
                  <a:txBody>
                    <a:bodyPr/>
                    <a:lstStyle/>
                    <a:p>
                      <a:pPr marL="0" lvl="0" indent="0">
                        <a:buNone/>
                      </a:pPr>
                      <a:r>
                        <a:t>Pireci Sejdiu &amp; Sejdiu (2025)</a:t>
                      </a:r>
                    </a:p>
                  </a:txBody>
                  <a:tcPr/>
                </a:tc>
                <a:tc>
                  <a:txBody>
                    <a:bodyPr/>
                    <a:lstStyle/>
                    <a:p>
                      <a:pPr marL="0" lvl="0" indent="0">
                        <a:buNone/>
                      </a:pPr>
                      <a:r>
                        <a:t>Architect &amp; Practitioner (quiet transformation of HE); Evolving Role of the Educator.</a:t>
                      </a:r>
                    </a:p>
                  </a:txBody>
                  <a:tcPr/>
                </a:tc>
                <a:extLst>
                  <a:ext uri="{0D108BD9-81ED-4DB2-BD59-A6C34878D82A}">
                    <a16:rowId xmlns:a16="http://schemas.microsoft.com/office/drawing/2014/main" val="10004"/>
                  </a:ext>
                </a:extLst>
              </a:tr>
              <a:tr h="381592">
                <a:tc>
                  <a:txBody>
                    <a:bodyPr/>
                    <a:lstStyle/>
                    <a:p>
                      <a:pPr marL="0" lvl="0" indent="0">
                        <a:buNone/>
                      </a:pPr>
                      <a:r>
                        <a:t>Park University (2025)</a:t>
                      </a:r>
                    </a:p>
                  </a:txBody>
                  <a:tcPr/>
                </a:tc>
                <a:tc>
                  <a:txBody>
                    <a:bodyPr/>
                    <a:lstStyle/>
                    <a:p>
                      <a:pPr marL="0" lvl="0" indent="0">
                        <a:buNone/>
                      </a:pPr>
                      <a:r>
                        <a:t>Intelligent Tutoring Systems (overview of ITS and benefits).</a:t>
                      </a:r>
                    </a:p>
                  </a:txBody>
                  <a:tcPr/>
                </a:tc>
                <a:extLst>
                  <a:ext uri="{0D108BD9-81ED-4DB2-BD59-A6C34878D82A}">
                    <a16:rowId xmlns:a16="http://schemas.microsoft.com/office/drawing/2014/main" val="10005"/>
                  </a:ext>
                </a:extLst>
              </a:tr>
              <a:tr h="381592">
                <a:tc>
                  <a:txBody>
                    <a:bodyPr/>
                    <a:lstStyle/>
                    <a:p>
                      <a:pPr marL="0" lvl="0" indent="0">
                        <a:buNone/>
                      </a:pPr>
                      <a:r>
                        <a:t>Li et al. (2025); Budiman et al. (2025); Kwak (2025); Chen (2025)</a:t>
                      </a:r>
                    </a:p>
                  </a:txBody>
                  <a:tcPr/>
                </a:tc>
                <a:tc>
                  <a:txBody>
                    <a:bodyPr/>
                    <a:lstStyle/>
                    <a:p>
                      <a:pPr marL="0" lvl="0" indent="0">
                        <a:buNone/>
                      </a:pPr>
                      <a:r>
                        <a:t>ITS &amp; Practitioner slides (evidence that AI‑mediated teaching can improve outcomes).</a:t>
                      </a:r>
                    </a:p>
                  </a:txBody>
                  <a:tcPr/>
                </a:tc>
                <a:extLst>
                  <a:ext uri="{0D108BD9-81ED-4DB2-BD59-A6C34878D82A}">
                    <a16:rowId xmlns:a16="http://schemas.microsoft.com/office/drawing/2014/main" val="10006"/>
                  </a:ext>
                </a:extLst>
              </a:tr>
              <a:tr h="381592">
                <a:tc>
                  <a:txBody>
                    <a:bodyPr/>
                    <a:lstStyle/>
                    <a:p>
                      <a:pPr marL="0" lvl="0" indent="0">
                        <a:buNone/>
                      </a:pPr>
                      <a:r>
                        <a:t>Rojas (2025)</a:t>
                      </a:r>
                    </a:p>
                  </a:txBody>
                  <a:tcPr/>
                </a:tc>
                <a:tc>
                  <a:txBody>
                    <a:bodyPr/>
                    <a:lstStyle/>
                    <a:p>
                      <a:pPr marL="0" lvl="0" indent="0">
                        <a:buNone/>
                      </a:pPr>
                      <a:r>
                        <a:t>Architect slide (instructional design in the AI era); Evolving Role of the Educator.</a:t>
                      </a:r>
                    </a:p>
                  </a:txBody>
                  <a:tcPr/>
                </a:tc>
                <a:extLst>
                  <a:ext uri="{0D108BD9-81ED-4DB2-BD59-A6C34878D82A}">
                    <a16:rowId xmlns:a16="http://schemas.microsoft.com/office/drawing/2014/main" val="10007"/>
                  </a:ext>
                </a:extLst>
              </a:tr>
              <a:tr h="381592">
                <a:tc>
                  <a:txBody>
                    <a:bodyPr/>
                    <a:lstStyle/>
                    <a:p>
                      <a:pPr marL="0" lvl="0" indent="0">
                        <a:buNone/>
                      </a:pPr>
                      <a:r>
                        <a:t>Dwivedi et al. (2023)</a:t>
                      </a:r>
                    </a:p>
                  </a:txBody>
                  <a:tcPr/>
                </a:tc>
                <a:tc>
                  <a:txBody>
                    <a:bodyPr/>
                    <a:lstStyle/>
                    <a:p>
                      <a:pPr marL="0" lvl="0" indent="0">
                        <a:buNone/>
                      </a:pPr>
                      <a:r>
                        <a:t>Challenges &amp; Limitations (opportunities vs misuse, integrity, policy gaps).</a:t>
                      </a:r>
                    </a:p>
                  </a:txBody>
                  <a:tcPr/>
                </a:tc>
                <a:extLst>
                  <a:ext uri="{0D108BD9-81ED-4DB2-BD59-A6C34878D82A}">
                    <a16:rowId xmlns:a16="http://schemas.microsoft.com/office/drawing/2014/main" val="10008"/>
                  </a:ext>
                </a:extLst>
              </a:tr>
              <a:tr h="381592">
                <a:tc>
                  <a:txBody>
                    <a:bodyPr/>
                    <a:lstStyle/>
                    <a:p>
                      <a:pPr marL="0" lvl="0" indent="0">
                        <a:buNone/>
                      </a:pPr>
                      <a:r>
                        <a:t>Gerlich (2025); Kosmyna et al. (2025)</a:t>
                      </a:r>
                    </a:p>
                  </a:txBody>
                  <a:tcPr/>
                </a:tc>
                <a:tc>
                  <a:txBody>
                    <a:bodyPr/>
                    <a:lstStyle/>
                    <a:p>
                      <a:pPr marL="0" lvl="0" indent="0">
                        <a:buNone/>
                      </a:pPr>
                      <a:r>
                        <a:t>Challenges &amp; Activity 3 (cognitive offloading / cognitive debt in AI‑assisted work).</a:t>
                      </a:r>
                    </a:p>
                  </a:txBody>
                  <a:tcPr/>
                </a:tc>
                <a:extLst>
                  <a:ext uri="{0D108BD9-81ED-4DB2-BD59-A6C34878D82A}">
                    <a16:rowId xmlns:a16="http://schemas.microsoft.com/office/drawing/2014/main" val="10009"/>
                  </a:ext>
                </a:extLst>
              </a:tr>
              <a:tr h="381592">
                <a:tc>
                  <a:txBody>
                    <a:bodyPr/>
                    <a:lstStyle/>
                    <a:p>
                      <a:pPr marL="0" lvl="0" indent="0">
                        <a:buNone/>
                      </a:pPr>
                      <a:r>
                        <a:t>Yin et al. (2025); EDUCAUSE (2025); TEQSA (2025); Russell Group (2023)</a:t>
                      </a:r>
                    </a:p>
                  </a:txBody>
                  <a:tcPr/>
                </a:tc>
                <a:tc>
                  <a:txBody>
                    <a:bodyPr/>
                    <a:lstStyle/>
                    <a:p>
                      <a:pPr marL="0" lvl="0" indent="0">
                        <a:buNone/>
                      </a:pPr>
                      <a:r>
                        <a:rPr dirty="0"/>
                        <a:t>Challenges &amp; Activity 5 (fairness, bias, ethics, institutional guidelines and guardrails).</a:t>
                      </a:r>
                    </a:p>
                  </a:txBody>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3485</Words>
  <Application>Microsoft Macintosh PowerPoint</Application>
  <PresentationFormat>On-screen Show (16:9)</PresentationFormat>
  <Paragraphs>297</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AI in Pedagogical Design and Delivery</vt:lpstr>
      <vt:lpstr>What We’ll Do Today</vt:lpstr>
      <vt:lpstr>Intelligent Tutoring Systems (ITS)</vt:lpstr>
      <vt:lpstr>The Architect (Pedagogical Design)</vt:lpstr>
      <vt:lpstr>The Practitioner (Pedagogical Delivery)</vt:lpstr>
      <vt:lpstr>Challenges &amp; Limitations</vt:lpstr>
      <vt:lpstr>The Evolving Role of the Educator</vt:lpstr>
      <vt:lpstr>Activity 1: Automate the Tedious</vt:lpstr>
      <vt:lpstr>Activity 2: The Art of the Prompt</vt:lpstr>
      <vt:lpstr>Activity 3: Your 5-Step Critique Framework</vt:lpstr>
      <vt:lpstr>Activity 4: Unlocking The Impossible</vt:lpstr>
      <vt:lpstr>Activity 5: Secure, Safe, and Sustainable AI</vt:lpstr>
      <vt:lpstr>Wrap-Up &amp; Next Steps</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Pedagogical Design and Delivery</dc:title>
  <dc:creator>Michael Borck</dc:creator>
  <cp:keywords/>
  <cp:lastModifiedBy>Michael Borck</cp:lastModifiedBy>
  <cp:revision>1</cp:revision>
  <dcterms:created xsi:type="dcterms:W3CDTF">2025-11-16T23:01:32Z</dcterms:created>
  <dcterms:modified xsi:type="dcterms:W3CDTF">2025-11-16T23:18:52Z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2025-11-17</vt:lpwstr>
  </property>
  <property fmtid="{D5CDD505-2E9C-101B-9397-08002B2CF9AE}" pid="6" name="footer">
    <vt:lpwstr>AI in Pedagogical Design and Delivery | Michael Borck</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