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98" autoAdjust="0"/>
    <p:restoredTop sz="58032" autoAdjust="0"/>
  </p:normalViewPr>
  <p:slideViewPr>
    <p:cSldViewPr snapToGrid="0" snapToObjects="1">
      <p:cViewPr varScale="1">
        <p:scale>
          <a:sx n="89" d="100"/>
          <a:sy n="89" d="100"/>
        </p:scale>
        <p:origin x="2064" y="160"/>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11/18/25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lang="en-AU" sz="1200" dirty="0"/>
              <a:t>“Two standard deviations.”</a:t>
            </a:r>
            <a:br>
              <a:rPr lang="en-AU" sz="1200" dirty="0"/>
            </a:br>
            <a:r>
              <a:rPr lang="en-AU" sz="1200" dirty="0"/>
              <a:t>[pause 2–3 seconds, make eye contact]</a:t>
            </a:r>
            <a:br>
              <a:rPr lang="en-AU" sz="1200" dirty="0"/>
            </a:br>
            <a:r>
              <a:rPr lang="en-AU" sz="1200" dirty="0"/>
              <a:t>That’s the gap Benjamin Bloom reported in the 1980s between students in a typical classroom and students who received one‑to‑one human tutoring – enough to turn an average student into a top performer.</a:t>
            </a:r>
          </a:p>
          <a:p>
            <a:pPr marL="0" lvl="0" indent="0">
              <a:buNone/>
            </a:pPr>
            <a:endParaRPr lang="en-AU" sz="1200" dirty="0"/>
          </a:p>
          <a:p>
            <a:pPr marL="0" lvl="0" indent="0">
              <a:buNone/>
            </a:pPr>
            <a:r>
              <a:rPr lang="en-AU" sz="1200" dirty="0"/>
              <a:t>Fast‑forward forty years. Sal Khan – the Khan Academy guy – stands on a TED stage and says: with AI tutors and AI teaching assistants, we might finally be able to get something like that 2‑sigma effect at scale. A personal tutor for every student, and an AI assistant for every teacher.</a:t>
            </a:r>
          </a:p>
          <a:p>
            <a:pPr marL="0" lvl="0" indent="0">
              <a:buNone/>
            </a:pPr>
            <a:endParaRPr lang="en-AU" sz="1200" dirty="0"/>
          </a:p>
          <a:p>
            <a:pPr marL="0" lvl="0" indent="0">
              <a:buNone/>
            </a:pPr>
            <a:r>
              <a:rPr lang="en-AU" sz="1200" dirty="0"/>
              <a:t>Whether that makes you excited or slightly ill, it raises a very practical question for us here at Curtin:</a:t>
            </a:r>
            <a:br>
              <a:rPr lang="en-AU" sz="1200" dirty="0"/>
            </a:br>
            <a:endParaRPr lang="en-AU" sz="1200" dirty="0"/>
          </a:p>
          <a:p>
            <a:pPr marL="0" lvl="0" indent="0">
              <a:buNone/>
            </a:pPr>
            <a:r>
              <a:rPr lang="en-AU" sz="1200" dirty="0"/>
              <a:t>If tools like this are going to sit in our students’ hands – and in our own enterprise Copilot environment – how do we design teaching, assessment and support so that we get the upside without losing what actually matters?</a:t>
            </a:r>
          </a:p>
          <a:p>
            <a:pPr marL="0" lvl="0" indent="0">
              <a:buNone/>
            </a:pPr>
            <a:endParaRPr lang="en-AU" sz="1200" dirty="0"/>
          </a:p>
          <a:p>
            <a:pPr marL="0" lvl="0" indent="0">
              <a:buNone/>
            </a:pPr>
            <a:r>
              <a:rPr lang="en-AU" sz="1200" dirty="0"/>
              <a:t>And how does that sit alongside Assessment 2030, academic integrity, and the reality that students can now summon a ‘tutor’ at 2am from their phone?”</a:t>
            </a:r>
          </a:p>
          <a:p>
            <a:pPr marL="0" lvl="0" indent="0">
              <a:buNone/>
            </a:pPr>
            <a:endParaRPr lang="en-AU" sz="1200" dirty="0"/>
          </a:p>
          <a:p>
            <a:pPr marL="0" lvl="0" indent="0">
              <a:buNone/>
            </a:pPr>
            <a:r>
              <a:rPr lang="en-AU" sz="1200" dirty="0"/>
              <a:t>“Even if you’re not teaching every day, there’s a similar promise in our research and professional roles – a kind of co‑pilot for the boring parts of our jobs – drafting, summarising, chasing patterns – so we can spend more time on work that needs human judgement and relationships.”</a:t>
            </a:r>
          </a:p>
          <a:p>
            <a:pPr marL="0" lvl="0" indent="0">
              <a:buNone/>
            </a:pPr>
            <a:endParaRPr lang="en-AU" sz="1200" dirty="0"/>
          </a:p>
          <a:p>
            <a:pPr marL="0" lvl="0" indent="0">
              <a:buNone/>
            </a:pPr>
            <a:r>
              <a:rPr lang="en-AU" sz="1200" dirty="0"/>
              <a:t>“That’s what this session is about. We’re going to:</a:t>
            </a:r>
            <a:br>
              <a:rPr lang="en-AU" sz="1200" dirty="0"/>
            </a:br>
            <a:r>
              <a:rPr lang="en-AU" sz="1200" dirty="0"/>
              <a:t>– Experiment with using AI to automate some of the tedious work,</a:t>
            </a:r>
            <a:br>
              <a:rPr lang="en-AU" sz="1200" dirty="0"/>
            </a:br>
            <a:r>
              <a:rPr lang="en-AU" sz="1200" dirty="0"/>
              <a:t>– Practise how to design prompts and critique AI outputs, and</a:t>
            </a:r>
            <a:br>
              <a:rPr lang="en-AU" sz="1200" dirty="0"/>
            </a:br>
            <a:r>
              <a:rPr lang="en-AU" sz="1200" dirty="0"/>
              <a:t>– Stress‑test our own assessments and practices in the spirit of Assessment 2030 – not to ban AI, but to redesign so that student judgement, process, and human skills remain irreplaceable.”</a:t>
            </a:r>
          </a:p>
          <a:p>
            <a:pPr marL="0" lvl="0" indent="0">
              <a:buNone/>
            </a:pPr>
            <a:endParaRPr lang="en-AU" sz="1200" dirty="0"/>
          </a:p>
          <a:p>
            <a:pPr marL="0" lvl="0" indent="0">
              <a:buNone/>
            </a:pPr>
            <a:r>
              <a:rPr lang="en-AU" sz="1200" dirty="0"/>
              <a:t>“We also know from recent work that if we lean too hard on these tools, we risk cognitive offloading, students feeling less connected, and making cheating easier if our assessments are too automatable. So we’ll spend as much time on how to critique and design around AI as we do on the shiny productivity side.”</a:t>
            </a:r>
          </a:p>
          <a:p>
            <a:pPr marL="0" lvl="0" indent="0">
              <a:buNone/>
            </a:pPr>
            <a:endParaRPr lang="en-AU" sz="1200" dirty="0"/>
          </a:p>
        </p:txBody>
      </p:sp>
      <p:sp>
        <p:nvSpPr>
          <p:cNvPr id="4" name="Slide Number Placeholder 3"/>
          <p:cNvSpPr>
            <a:spLocks noGrp="1"/>
          </p:cNvSpPr>
          <p:nvPr>
            <p:ph type="sldNum" sz="quarter" idx="5"/>
          </p:nvPr>
        </p:nvSpPr>
        <p:spPr/>
        <p:txBody>
          <a:bodyPr/>
          <a:lstStyle/>
          <a:p>
            <a:fld id="{18BDFEC3-8487-43E8-A154-7C12CBC1FFF2}" type="slidenum">
              <a:rPr lang="en-US" smtClean="0"/>
              <a:t>1</a:t>
            </a:fld>
            <a:endParaRPr lang="en-US"/>
          </a:p>
        </p:txBody>
      </p:sp>
    </p:spTree>
    <p:extLst>
      <p:ext uri="{BB962C8B-B14F-4D97-AF65-F5344CB8AC3E}">
        <p14:creationId xmlns:p14="http://schemas.microsoft.com/office/powerpoint/2010/main" val="29969442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So the shape of the next two hours is roughly this: a bit of context to connect AI to Assessment 2030, then five very practical activities – automate, prompt, critique, multi‑step workflows, and safe use – and then a short wrap‑up.</a:t>
            </a:r>
          </a:p>
          <a:p>
            <a:pPr marL="0" lvl="0" indent="0">
              <a:buNone/>
            </a:pPr>
            <a:endParaRPr dirty="0"/>
          </a:p>
          <a:p>
            <a:pPr marL="0" lvl="0" indent="0">
              <a:buNone/>
            </a:pPr>
            <a:r>
              <a:rPr dirty="0"/>
              <a:t>It’s designed to be mostly hands‑on and beginner‑friendly, with space for questions and discussion as we go.</a:t>
            </a:r>
          </a:p>
          <a:p>
            <a:pPr marL="0" lvl="0" indent="0">
              <a:buNone/>
            </a:pPr>
            <a:endParaRPr dirty="0"/>
          </a:p>
          <a:p>
            <a:pPr marL="0" lvl="0" indent="0">
              <a:buNone/>
            </a:pPr>
            <a:r>
              <a:rPr dirty="0"/>
              <a:t>For Activity 4 we have two possible paths, depending on how much Assessment 2030 you’ve already had today:</a:t>
            </a:r>
            <a:br>
              <a:rPr dirty="0"/>
            </a:br>
            <a:r>
              <a:rPr dirty="0"/>
              <a:t>we can either probe one of our assessments with AI and discuss redesign, or we can use a multi‑step AI workflow to tackle one of those ‘impossible’ teaching or design problems. We’ll pick on the day based on the room.</a:t>
            </a:r>
            <a:r>
              <a:rPr lang="en-AU" dirty="0"/>
              <a:t>   </a:t>
            </a:r>
          </a:p>
          <a:p>
            <a:pPr marL="0" lvl="0" indent="0">
              <a:buNone/>
            </a:pPr>
            <a:endParaRPr lang="en-AU" sz="2000" dirty="0"/>
          </a:p>
          <a:p>
            <a:pPr marL="0" lvl="0" indent="0">
              <a:buNone/>
            </a:pPr>
            <a:r>
              <a:rPr sz="2000" dirty="0"/>
              <a:t>“Just as we’ll explore today, these slides and the website were developed with AI support – for drafting, structuring and idea generation – but always with human oversight, editing and verification. So this session is very much about </a:t>
            </a:r>
            <a:r>
              <a:rPr sz="2000" i="1" dirty="0"/>
              <a:t>walking the talk</a:t>
            </a:r>
            <a:r>
              <a:rPr sz="2000" dirty="0"/>
              <a:t> as well as talking about it.”</a:t>
            </a:r>
            <a:endParaRPr lang="en-AU" sz="2000" dirty="0"/>
          </a:p>
          <a:p>
            <a:pPr marL="0" lvl="0" indent="0">
              <a:buNone/>
            </a:pPr>
            <a:endParaRPr lang="en-AU" sz="2000" dirty="0"/>
          </a:p>
          <a:p>
            <a:pPr marL="0" lvl="0" indent="0">
              <a:buNone/>
            </a:pPr>
            <a:endParaRPr lang="en-AU" sz="2000" dirty="0"/>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dirty="0"/>
              <a:t>Key Takeaway:</a:t>
            </a:r>
            <a:r>
              <a:rPr dirty="0"/>
              <a:t> ITS deliver </a:t>
            </a:r>
            <a:r>
              <a:rPr b="1" dirty="0" err="1"/>
              <a:t>personalised</a:t>
            </a:r>
            <a:r>
              <a:rPr b="1" dirty="0"/>
              <a:t>, one-on-one instruction</a:t>
            </a:r>
            <a:r>
              <a:rPr dirty="0"/>
              <a:t> by relying on an integrated architecture of four key components: the </a:t>
            </a:r>
            <a:r>
              <a:rPr b="1" dirty="0"/>
              <a:t>Domain Model</a:t>
            </a:r>
            <a:r>
              <a:rPr dirty="0"/>
              <a:t> (what is taught), the </a:t>
            </a:r>
            <a:r>
              <a:rPr b="1" dirty="0"/>
              <a:t>Learner Model</a:t>
            </a:r>
            <a:r>
              <a:rPr dirty="0"/>
              <a:t> (who is learning, including successes and misconceptions), the </a:t>
            </a:r>
            <a:r>
              <a:rPr b="1" dirty="0"/>
              <a:t>Tutoring Model</a:t>
            </a:r>
            <a:r>
              <a:rPr dirty="0"/>
              <a:t> (how to teach), and the </a:t>
            </a:r>
            <a:r>
              <a:rPr b="1" dirty="0"/>
              <a:t>User Interface Model</a:t>
            </a:r>
            <a:r>
              <a:rPr dirty="0"/>
              <a:t> (interaction). The quality of instruction is directly determined by the sophistication of these underlying models, which collectively ensure that the system adjusts the pace, difficulty, and focus of lessons in real-time.</a:t>
            </a:r>
          </a:p>
          <a:p>
            <a:pPr marL="0" lvl="0" indent="0">
              <a:buNone/>
            </a:pPr>
            <a:endParaRPr dirty="0"/>
          </a:p>
          <a:p>
            <a:pPr marL="0" lvl="0" indent="0">
              <a:buNone/>
            </a:pPr>
            <a:r>
              <a:rPr b="1" dirty="0"/>
              <a:t>Analogy:</a:t>
            </a:r>
            <a:r>
              <a:rPr dirty="0"/>
              <a:t> Intelligent Tutoring Systems function much like an automated personal trainer at a gym. Just as the trainer analyzes your current fitness level, pace, and weaknesses (the </a:t>
            </a:r>
            <a:r>
              <a:rPr b="1" dirty="0"/>
              <a:t>Student Model</a:t>
            </a:r>
            <a:r>
              <a:rPr dirty="0"/>
              <a:t>), knows the curriculum of exercises (the </a:t>
            </a:r>
            <a:r>
              <a:rPr b="1" dirty="0"/>
              <a:t>Domain Model</a:t>
            </a:r>
            <a:r>
              <a:rPr dirty="0"/>
              <a:t>), and determines the optimal routine to challenge you without overwhelming you (the </a:t>
            </a:r>
            <a:r>
              <a:rPr b="1" dirty="0"/>
              <a:t>Tutoring Model</a:t>
            </a:r>
            <a:r>
              <a:rPr dirty="0"/>
              <a:t>), the ITS continuously adjusts the learning path to ensure instruction is both challenging and achievable, promoting deeper understanding.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dirty="0"/>
              <a:t>Key Takeaway:</a:t>
            </a:r>
            <a:r>
              <a:rPr dirty="0"/>
              <a:t> AI fundamentally transforms the pedagogical designer’s role from a manual content creator to a </a:t>
            </a:r>
            <a:r>
              <a:rPr b="1" dirty="0"/>
              <a:t>Strategic Architect</a:t>
            </a:r>
            <a:r>
              <a:rPr dirty="0"/>
              <a:t> by automating previously slow and tedious tasks, such as generating course outlines, assessments, and multimedia. This automation forces the designer to focus on </a:t>
            </a:r>
            <a:r>
              <a:rPr b="1" dirty="0"/>
              <a:t>high-level, human-centric design</a:t>
            </a:r>
            <a:r>
              <a:rPr dirty="0"/>
              <a:t>—creating flexible, dynamic frameworks and addressing emotional barriers to learning, rather than formatting slides or writing quiz questions.</a:t>
            </a:r>
          </a:p>
          <a:p>
            <a:pPr marL="0" lvl="0" indent="0">
              <a:buNone/>
            </a:pPr>
            <a:endParaRPr dirty="0"/>
          </a:p>
          <a:p>
            <a:pPr marL="0" lvl="0" indent="0">
              <a:buNone/>
            </a:pPr>
            <a:r>
              <a:rPr b="1" dirty="0"/>
              <a:t>Analogy:</a:t>
            </a:r>
            <a:r>
              <a:rPr dirty="0"/>
              <a:t> If traditional pedagogical design was like crafting a single, hand-built ship (a static course) that everyone had to sail on, the AI era redesigns the role of the architect. The new Pedagogical Architect now designs a complex, adaptive fleet where each ship (module) can adjust its sails, speed, and navigation (difficulty, pace, content) based on the real-time weather (student performance data), ensuring everyone reaches their destination, but along a </a:t>
            </a:r>
            <a:r>
              <a:rPr dirty="0" err="1"/>
              <a:t>personalised</a:t>
            </a:r>
            <a:r>
              <a:rPr dirty="0"/>
              <a:t> route. The architect’s most critical new job is ensuring the human crew (teachers and students) still communicate and build rapport, not just follow the automated navigation system.</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Key Takeaway:</a:t>
            </a:r>
            <a:r>
              <a:t> AI revolutionizes pedagogical delivery by collapsing the feedback loop and providing educators with </a:t>
            </a:r>
            <a:r>
              <a:rPr b="1"/>
              <a:t>real-time data insights</a:t>
            </a:r>
            <a:r>
              <a:t> into student progress, performance patterns, and cognitive states. This data-driven delivery allows the human teacher to transition into a </a:t>
            </a:r>
            <a:r>
              <a:rPr b="1"/>
              <a:t>“real-time interventionist,”</a:t>
            </a:r>
            <a:r>
              <a:t> enabling them to abandon content presentation to the “average” student and instead focus on targeted, high-value interventions based on immediate, actionable data. It can be viewed the impact of AI on pedagogical delivery not as a replacement for the teacher, but as an augmented reality for the classroom. AI handles the mechanics of instruction and data analysis, allowing the human practitioner to execute their craft with surgical precision, focusing their limited time on high-value, empathetic, and complex human interactions.</a:t>
            </a:r>
          </a:p>
          <a:p>
            <a:pPr marL="0" lvl="0" indent="0">
              <a:buNone/>
            </a:pPr>
            <a:endParaRPr/>
          </a:p>
          <a:p>
            <a:pPr marL="0" lvl="0" indent="0">
              <a:buNone/>
            </a:pPr>
            <a:r>
              <a:rPr b="1"/>
              <a:t>Analogy:</a:t>
            </a:r>
            <a:r>
              <a:t>. AI in the classroom functions as an AI Co-Pilot. The AI (co-pilot) handles the routine mechanics of flight (content delivery, system monitoring, and performance tracking), allowing the human pilot (the educator) to focus on complex navigation, communicating with the crew (students), and managing unexpected turbulence (misconceptions or emotional barriers) with surgical precision.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Key Takeaway:</a:t>
            </a:r>
            <a:r>
              <a:t> Despite the technological promise, a critical challenge for AIED is the </a:t>
            </a:r>
            <a:r>
              <a:rPr b="1"/>
              <a:t>risk of eroding the human element</a:t>
            </a:r>
            <a:r>
              <a:t> and exacerbating </a:t>
            </a:r>
            <a:r>
              <a:rPr b="1"/>
              <a:t>educational inequity</a:t>
            </a:r>
            <a:r>
              <a:t> through algorithmic bias. Over-reliance on ITS and generative tools can reduce valuable face-to-face interactions, while studies show that students using AI sometimes feel </a:t>
            </a:r>
            <a:r>
              <a:rPr b="1"/>
              <a:t>less connected to their teachers</a:t>
            </a:r>
            <a:r>
              <a:t> (the “paradox of connection”). Furthermore, predictive models trained on historical data risk perpetuating existing biases against marginalized groups when allocating resources or flagging “at-risk” learners.</a:t>
            </a:r>
          </a:p>
          <a:p>
            <a:pPr marL="0" lvl="0" indent="0">
              <a:buNone/>
            </a:pPr>
            <a:endParaRPr/>
          </a:p>
          <a:p>
            <a:pPr marL="0" lvl="0" indent="0">
              <a:buNone/>
            </a:pPr>
            <a:r>
              <a:t>Recent work also highlights broader risks: generative AI can </a:t>
            </a:r>
            <a:r>
              <a:rPr b="1"/>
              <a:t>hallucinate</a:t>
            </a:r>
            <a:r>
              <a:t> plausible but incorrect information, enable large‑scale </a:t>
            </a:r>
            <a:r>
              <a:rPr b="1"/>
              <a:t>misinformation and deepfakes</a:t>
            </a:r>
            <a:r>
              <a:t>, and make it easier to </a:t>
            </a:r>
            <a:r>
              <a:rPr b="1"/>
              <a:t>circumvent traditional assessments</a:t>
            </a:r>
            <a:r>
              <a:t> if those tasks are easily automated. These are not reasons to ban AI outright, but reasons to </a:t>
            </a:r>
            <a:r>
              <a:rPr b="1"/>
              <a:t>redesign tasks and guardrails</a:t>
            </a:r>
            <a:r>
              <a:t> so that human judgement and process remain visible.</a:t>
            </a:r>
          </a:p>
          <a:p>
            <a:pPr marL="0" lvl="0" indent="0">
              <a:buNone/>
            </a:pPr>
            <a:endParaRPr/>
          </a:p>
          <a:p>
            <a:pPr marL="0" lvl="0" indent="0">
              <a:buNone/>
            </a:pPr>
            <a:r>
              <a:t>You can link this directly to </a:t>
            </a:r>
            <a:r>
              <a:rPr b="1"/>
              <a:t>Assessment 2030</a:t>
            </a:r>
            <a:r>
              <a:t> and later activities:</a:t>
            </a:r>
          </a:p>
          <a:p>
            <a:pPr marL="0" lvl="0" indent="0">
              <a:buNone/>
            </a:pPr>
            <a:endParaRPr/>
          </a:p>
          <a:p>
            <a:pPr marL="1270000" lvl="0" indent="0">
              <a:buNone/>
            </a:pPr>
            <a:r>
              <a:rPr sz="2000"/>
              <a:t>“Assessment 2030 is essentially our institutional response to these challenges. Rather than pretending AI doesn’t exist, we redesign assessment and learning activities so that </a:t>
            </a:r>
            <a:r>
              <a:rPr sz="2000" b="1"/>
              <a:t>student thinking and judgement</a:t>
            </a:r>
            <a:r>
              <a:rPr sz="2000"/>
              <a:t> are what really matter. Activities 3–5 in this workshop are about giving you practical ways to do that.”</a:t>
            </a:r>
          </a:p>
          <a:p>
            <a:pPr marL="0" lvl="0" indent="0">
              <a:buNone/>
            </a:pPr>
            <a:endParaRPr sz="2000"/>
          </a:p>
          <a:p>
            <a:pPr marL="0" lvl="0" indent="0">
              <a:buNone/>
            </a:pPr>
            <a:r>
              <a:rPr b="1"/>
              <a:t>Analogy:</a:t>
            </a:r>
            <a:r>
              <a:t> Think of AIED as a new, highly efficient Automated Factory. While it produces learning materials at scale (efficiency), it risks creating a sterile, one-size-fits-all product that lacks the “human touch” (eroding connection). More dangerously, if the factory’s blueprints (the algorithm) have a flaw (bias), it doesn’t just create one bad product; it replicates that flaw thousands of times, perpetuating the inequity at scale.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Key Takeaway:</a:t>
            </a:r>
            <a:r>
              <a:t> The long-term impact of AI is a </a:t>
            </a:r>
            <a:r>
              <a:rPr b="1"/>
              <a:t>forced re-humanization</a:t>
            </a:r>
            <a:r>
              <a:t> of the educator’s role, where the practitioner is compelled to abandon the commoditized, technical tasks (which AI can perform) and focus on the </a:t>
            </a:r>
            <a:r>
              <a:rPr b="1"/>
              <a:t>Human Edge of AI</a:t>
            </a:r>
            <a:r>
              <a:t>. This means prioritizing </a:t>
            </a:r>
            <a:r>
              <a:rPr b="1"/>
              <a:t>empathy, creativity, strategic thinking, mentorship, and socio-emotional support</a:t>
            </a:r>
            <a:r>
              <a:t>—the unique human skills vital for holistic student development that AI fundamentally cannot replicate. Educators must also become proficient in </a:t>
            </a:r>
            <a:r>
              <a:rPr b="1"/>
              <a:t>interpreting AI data</a:t>
            </a:r>
            <a:r>
              <a:t> and developing </a:t>
            </a:r>
            <a:r>
              <a:rPr b="1"/>
              <a:t>ethical reasoning</a:t>
            </a:r>
            <a:r>
              <a:t> to guide responsible technology use.</a:t>
            </a:r>
          </a:p>
          <a:p>
            <a:pPr marL="0" lvl="0" indent="0">
              <a:buNone/>
            </a:pPr>
            <a:endParaRPr/>
          </a:p>
          <a:p>
            <a:pPr marL="0" lvl="0" indent="0">
              <a:buNone/>
            </a:pPr>
            <a:r>
              <a:rPr b="1"/>
              <a:t>Analogy:</a:t>
            </a:r>
            <a:r>
              <a:t> The integration of AI is like a Rising Tide. As the AI “tide” rises, it automates and submerges all the routine, technical “lowlands” of the job (grading, content delivery). This forces the educator to move to the “high ground”—the uniquely human skills of empathy, mentorship, and creative problem-solving that the tide cannot reach. Their value is no longer in the submerged tasks, but on this new, more human-centric high ground.</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lang="en-AU" dirty="0"/>
              <a:t>In Activity 1 you use AI as a summariser and re‑packager. You start from a real text (such as a reading excerpt, assignment brief or policy section), ask AI for a short, student‑friendly summary, then turn that summary into something useful: an LMS announcement, a two‑slide outline, or a short quiz.</a:t>
            </a:r>
          </a:p>
          <a:p>
            <a:pPr marL="0" lvl="0" indent="0">
              <a:buNone/>
            </a:pPr>
            <a:endParaRPr lang="en-AU" dirty="0"/>
          </a:p>
          <a:p>
            <a:pPr marL="0" lvl="0" indent="0">
              <a:buNone/>
            </a:pPr>
            <a:r>
              <a:rPr lang="en-AU" dirty="0"/>
              <a:t>The key idea is that AI can speed up routine drafting, but you still review and edit the output so it fits your unit, students and voice. For step‑by‑step prompts and variants for research and professional roles, see the handout ‘Activity 1 – Automate the Tedious’ and the ‘Quick Start Guide: AI in Education’.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lang="en-AU" dirty="0"/>
              <a:t>Activity 2 is about improving how you ask AI for help. You take a vague prompt you actually used, then rewrite it using a simple structure: context, role, action, format and tone/constraints. Running both prompts side‑by‑side shows how much clearer, more relevant and more usable the structured output is.</a:t>
            </a:r>
          </a:p>
          <a:p>
            <a:pPr marL="0" lvl="0" indent="0">
              <a:buNone/>
            </a:pPr>
            <a:endParaRPr lang="en-AU" dirty="0"/>
          </a:p>
          <a:p>
            <a:pPr marL="0" lvl="0" indent="0">
              <a:buNone/>
            </a:pPr>
            <a:r>
              <a:rPr lang="en-AU" dirty="0"/>
              <a:t>This activity links directly to the C.R.A.F.T. approach to prompting. For worked examples and extra patterns (including feedback helpers and redesign prompts), see ‘Activity 2 – The Art of the Prompt’ and the ‘C.R.A.F.T. Prompting Framework’.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lang="en-AU" dirty="0"/>
              <a:t>In Activity 3 you learn a quick 5‑step critique for any AI output: Purpose, Plausibility, Evidence, Stakes, and Action. You apply it to something AI produced earlier (for example a summary, announcement, quiz or teaching idea) and record one strength and one concern for each step.</a:t>
            </a:r>
          </a:p>
          <a:p>
            <a:pPr marL="0" lvl="0" indent="0">
              <a:buNone/>
            </a:pPr>
            <a:endParaRPr lang="en-AU" dirty="0"/>
          </a:p>
          <a:p>
            <a:pPr marL="0" lvl="0" indent="0">
              <a:buNone/>
            </a:pPr>
            <a:r>
              <a:rPr lang="en-AU" dirty="0"/>
              <a:t>The goal is to decide whether to keep and lightly edit, re‑prompt in a new direction, or discard and start again. For a fuller explanation and templates you can reuse, see ‘Activity 3 – 5‑Step Critique Framework’, ‘Cognitive Prompting in Education’, and ‘AI Critique Toolkit – Becoming a Smart Business Professional’.</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lang="en-AU" dirty="0"/>
              <a:t>Activity 4 invites you to test how your assessment (or a similar task) behaves when AI is allowed. You first see how well AI can complete the task, then analyse where the response looks like a strong submission and where genuine student thinking or personal context is missing.</a:t>
            </a:r>
          </a:p>
          <a:p>
            <a:pPr marL="0" lvl="0" indent="0">
              <a:buNone/>
            </a:pPr>
            <a:endParaRPr lang="en-AU" dirty="0"/>
          </a:p>
          <a:p>
            <a:pPr marL="0" lvl="0" indent="0">
              <a:buNone/>
            </a:pPr>
            <a:r>
              <a:rPr lang="en-AU" dirty="0"/>
              <a:t>From there, you sketch small redesigns—such as adding an in‑class component, requiring an AI use log, or anchoring the task in local or personal examples—to make student judgement more visible while still allowing transparent, limited AI use. For detailed prompts and variants, see ‘Activity 4 – Unlocking the Impossible’ and the overview ‘AI in Pedagogical Design and Delivery’.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lang="en-AU" dirty="0"/>
              <a:t>Activity 5 is about choosing one small, concrete next step for secure, safe and sustainable AI use in your own context. You might draft a short guideline for AI use in your unit or team, run a quick risk–benefit check on one planned AI use, or write a Week 1 statement you could say to students or colleagues.</a:t>
            </a:r>
          </a:p>
          <a:p>
            <a:pPr marL="0" lvl="0" indent="0">
              <a:buNone/>
            </a:pPr>
            <a:endParaRPr lang="en-AU" dirty="0"/>
          </a:p>
          <a:p>
            <a:pPr marL="0" lvl="0" indent="0">
              <a:buNone/>
            </a:pPr>
            <a:r>
              <a:rPr lang="en-AU" dirty="0"/>
              <a:t>The emphasis is on clear expectations, transparency, and keeping human judgement central, rather than banning AI or outsourcing decisions to tools like Copilot or Turnitin Clarity. For example prompts and micro‑tasks that you can adapt after the workshop, see ‘Activity 5 – Secure, Safe, and Sustainable AI’, ‘Ethics, Data Governance &amp; Integrity’, and ‘Using AI in Education: Roles for Teaching &amp; Research’. For framing broader AI risk, Black Swans and Grey Swans, see ‘Black &amp; Grey Swans in AI’.</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AU" b="1" dirty="0"/>
              <a:t>Recap the journey</a:t>
            </a:r>
            <a:r>
              <a:rPr lang="en-AU" dirty="0"/>
              <a:t> very briefly:  </a:t>
            </a:r>
            <a:r>
              <a:rPr dirty="0"/>
              <a:t>“We started by seeing how AI can </a:t>
            </a:r>
            <a:r>
              <a:rPr b="1" dirty="0"/>
              <a:t>automate tedious tasks</a:t>
            </a:r>
            <a:r>
              <a:rPr dirty="0"/>
              <a:t> and draft first versions for us.</a:t>
            </a:r>
            <a:br>
              <a:rPr dirty="0"/>
            </a:br>
            <a:r>
              <a:rPr dirty="0"/>
              <a:t>We then worked on </a:t>
            </a:r>
            <a:r>
              <a:rPr b="1" dirty="0"/>
              <a:t>designing better prompts</a:t>
            </a:r>
            <a:r>
              <a:rPr dirty="0"/>
              <a:t>, </a:t>
            </a:r>
            <a:r>
              <a:rPr b="1" dirty="0"/>
              <a:t>critiquing AI outputs</a:t>
            </a:r>
            <a:r>
              <a:rPr dirty="0"/>
              <a:t>, and finally </a:t>
            </a:r>
            <a:r>
              <a:rPr b="1" dirty="0"/>
              <a:t>stress‑testing our assessments</a:t>
            </a:r>
            <a:r>
              <a:rPr dirty="0"/>
              <a:t> and thinking about </a:t>
            </a:r>
            <a:r>
              <a:rPr b="1" dirty="0"/>
              <a:t>safe, sustainable use</a:t>
            </a:r>
            <a:r>
              <a:rPr dirty="0"/>
              <a:t>.”</a:t>
            </a:r>
          </a:p>
          <a:p>
            <a:pPr marL="0" lvl="0" indent="0">
              <a:buNone/>
            </a:pPr>
            <a:endParaRPr dirty="0"/>
          </a:p>
          <a:p>
            <a:pPr lvl="0"/>
            <a:r>
              <a:rPr b="1" dirty="0"/>
              <a:t>Tie back to Assessment 2030 and your stance:</a:t>
            </a:r>
            <a:r>
              <a:rPr lang="en-AU" b="1" dirty="0"/>
              <a:t> </a:t>
            </a:r>
            <a:r>
              <a:rPr dirty="0"/>
              <a:t>“All of that sits inside the Assessment 2030 idea: we’re not trying to ban AI, and we’re not blindly embracing it. We’re redesigning assessment and teaching so that </a:t>
            </a:r>
            <a:r>
              <a:rPr b="1" dirty="0"/>
              <a:t>student judgement, process, and human skills</a:t>
            </a:r>
            <a:r>
              <a:rPr dirty="0"/>
              <a:t> are what really matter.”</a:t>
            </a:r>
          </a:p>
          <a:p>
            <a:pPr marL="0" lvl="0" indent="0">
              <a:buNone/>
            </a:pPr>
            <a:endParaRPr dirty="0"/>
          </a:p>
          <a:p>
            <a:pPr lvl="0"/>
            <a:r>
              <a:rPr b="1" dirty="0"/>
              <a:t>Reinforce the human edge:</a:t>
            </a:r>
            <a:r>
              <a:rPr lang="en-AU" b="1" dirty="0"/>
              <a:t> </a:t>
            </a:r>
            <a:r>
              <a:rPr dirty="0"/>
              <a:t>“As more routine writing and </a:t>
            </a:r>
            <a:r>
              <a:rPr dirty="0" err="1"/>
              <a:t>summarising</a:t>
            </a:r>
            <a:r>
              <a:rPr dirty="0"/>
              <a:t> gets automated, the value of what only we can do – </a:t>
            </a:r>
            <a:r>
              <a:rPr b="1" dirty="0"/>
              <a:t>empathy, feedback, facilitation, contextual judgement</a:t>
            </a:r>
            <a:r>
              <a:rPr dirty="0"/>
              <a:t> – actually goes up. AI is the infrastructure; our job is to design how it supports learning, not replaces it.”</a:t>
            </a:r>
          </a:p>
          <a:p>
            <a:pPr marL="0" lvl="0" indent="0">
              <a:buNone/>
            </a:pPr>
            <a:endParaRPr dirty="0"/>
          </a:p>
          <a:p>
            <a:pPr lvl="0"/>
            <a:r>
              <a:rPr b="1" dirty="0"/>
              <a:t>Point to next steps and resources:</a:t>
            </a:r>
            <a:r>
              <a:rPr lang="en-AU" b="1" dirty="0"/>
              <a:t> </a:t>
            </a:r>
            <a:r>
              <a:rPr dirty="0"/>
              <a:t>“If you want to keep experimenting, the companion website has the handouts, prompt frameworks, and references we’ve touched on today. You can pick one activity and try it in a small way in your own unit or team.”</a:t>
            </a:r>
          </a:p>
          <a:p>
            <a:pPr marL="0" lvl="0" indent="0">
              <a:buNone/>
            </a:pPr>
            <a:endParaRPr dirty="0"/>
          </a:p>
          <a:p>
            <a:pPr marL="0" lvl="0" indent="0">
              <a:buNone/>
            </a:pPr>
            <a:r>
              <a:rPr b="1" dirty="0"/>
              <a:t>Pause for questions (no dedicated Q&amp;A slide):</a:t>
            </a:r>
            <a:r>
              <a:rPr lang="en-AU" b="1" dirty="0"/>
              <a:t> </a:t>
            </a:r>
            <a:r>
              <a:rPr sz="2000" dirty="0"/>
              <a:t>“I’ll pause here – what questions, worries, or ideas are bubbling up for you? They can be about the tools, the activities, or how this fits with Assessment 2030 in your own context.”</a:t>
            </a:r>
          </a:p>
          <a:p>
            <a:pPr marL="0" lvl="0" indent="0">
              <a:buNone/>
            </a:pPr>
            <a:endParaRPr sz="2000" dirty="0"/>
          </a:p>
          <a:p>
            <a:pPr marL="0" lvl="0" indent="0">
              <a:buNone/>
            </a:pPr>
            <a:r>
              <a:rPr sz="2000" dirty="0"/>
              <a:t>“If things come to you later, feel free to grab me in the corridor, drop me a message, or send through a sample assessment you’d like to stress‑test. I’m very happy to keep working on this with you.”</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lang="en-AU" dirty="0"/>
              <a:t>This slide links key readings to the main ideas in the workshop (for example Bloom’s work on tutoring, research on intelligent tutoring systems, and recent studies on AI in higher education, integrity and ethics).</a:t>
            </a:r>
          </a:p>
          <a:p>
            <a:pPr marL="0" lvl="0" indent="0">
              <a:buNone/>
            </a:pPr>
            <a:endParaRPr lang="en-AU" dirty="0"/>
          </a:p>
          <a:p>
            <a:pPr marL="0" lvl="0" indent="0">
              <a:buNone/>
            </a:pPr>
            <a:r>
              <a:rPr lang="en-AU" dirty="0"/>
              <a:t>If you want to explore the evidence base or cite work in your own teaching or research, see the ‘References’ document and the overview ‘AI in Pedagogical Design and Delivery’.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11/18/25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11/18/25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11/18/25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11/18/25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11/18/25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11/18/25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11/18/25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11/18/25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11/18/25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11/18/25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11/18/25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1EB5C9-1307-BA42-ABA2-0BC069CD8E7F}" type="datetimeFigureOut">
              <a:rPr lang="en-US" smtClean="0"/>
              <a:t>11/18/25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rtl="0" eaLnBrk="1" latinLnBrk="0" hangingPunct="1">
        <a:spcBef>
          <a:spcPct val="0"/>
        </a:spcBef>
        <a:buNone/>
        <a:defRPr sz="3300" kern="1200">
          <a:solidFill>
            <a:schemeClr val="tx1"/>
          </a:solidFill>
          <a:latin typeface="+mj-lt"/>
          <a:ea typeface="+mj-ea"/>
          <a:cs typeface="+mj-cs"/>
        </a:defRPr>
      </a:lvl1pPr>
    </p:titleStyle>
    <p:bodyStyle>
      <a:lvl1pPr marL="342900" indent="-342900" algn="l" defTabSz="342900" rtl="0" eaLnBrk="1" latinLnBrk="0" hangingPunct="1">
        <a:spcBef>
          <a:spcPct val="20000"/>
        </a:spcBef>
        <a:buFont typeface="Arial"/>
        <a:buChar char="•"/>
        <a:defRPr sz="24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21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5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7DA3C418-758E-4180-A5D0-8655D68045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8C8EF06-5EC3-4883-AFAF-D74FF46550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3851978" cy="5153736"/>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1" descr="../docs/images/copilot-2-sigma.png">
            <a:extLst>
              <a:ext uri="{FF2B5EF4-FFF2-40B4-BE49-F238E27FC236}">
                <a16:creationId xmlns:a16="http://schemas.microsoft.com/office/drawing/2014/main" id="{C3A21620-66A7-3AE4-3A1B-EB7C6754CBBA}"/>
              </a:ext>
            </a:extLst>
          </p:cNvPr>
          <p:cNvPicPr>
            <a:picLocks noGrp="1" noChangeAspect="1"/>
          </p:cNvPicPr>
          <p:nvPr/>
        </p:nvPicPr>
        <p:blipFill>
          <a:blip r:embed="rId3"/>
          <a:srcRect l="4005" r="11454"/>
          <a:stretch>
            <a:fillRect/>
          </a:stretch>
        </p:blipFill>
        <p:spPr bwMode="auto">
          <a:xfrm>
            <a:off x="2186591" y="10"/>
            <a:ext cx="6957409" cy="5143490"/>
          </a:xfrm>
          <a:custGeom>
            <a:avLst/>
            <a:gdLst/>
            <a:ahLst/>
            <a:cxnLst/>
            <a:rect l="l" t="t" r="r" b="b"/>
            <a:pathLst>
              <a:path w="9276545" h="6871647">
                <a:moveTo>
                  <a:pt x="9276545" y="0"/>
                </a:moveTo>
                <a:lnTo>
                  <a:pt x="9276545" y="6858000"/>
                </a:lnTo>
                <a:lnTo>
                  <a:pt x="1546051" y="6871647"/>
                </a:lnTo>
                <a:lnTo>
                  <a:pt x="1535751" y="6828910"/>
                </a:lnTo>
                <a:cubicBezTo>
                  <a:pt x="1530460" y="6775140"/>
                  <a:pt x="1515370" y="6618042"/>
                  <a:pt x="1514301" y="6549029"/>
                </a:cubicBezTo>
                <a:cubicBezTo>
                  <a:pt x="1518045" y="6491396"/>
                  <a:pt x="1528503" y="6450608"/>
                  <a:pt x="1529339" y="6414828"/>
                </a:cubicBezTo>
                <a:cubicBezTo>
                  <a:pt x="1525062" y="6359280"/>
                  <a:pt x="1502062" y="6307149"/>
                  <a:pt x="1493941" y="6268848"/>
                </a:cubicBezTo>
                <a:cubicBezTo>
                  <a:pt x="1502669" y="6254191"/>
                  <a:pt x="1469920" y="6200171"/>
                  <a:pt x="1480613" y="6185025"/>
                </a:cubicBezTo>
                <a:cubicBezTo>
                  <a:pt x="1481020" y="6164522"/>
                  <a:pt x="1458164" y="6060790"/>
                  <a:pt x="1443364" y="6018360"/>
                </a:cubicBezTo>
                <a:cubicBezTo>
                  <a:pt x="1426694" y="5970758"/>
                  <a:pt x="1390307" y="5920074"/>
                  <a:pt x="1380584" y="5899407"/>
                </a:cubicBezTo>
                <a:cubicBezTo>
                  <a:pt x="1370860" y="5878740"/>
                  <a:pt x="1392244" y="5920877"/>
                  <a:pt x="1385023" y="5894356"/>
                </a:cubicBezTo>
                <a:cubicBezTo>
                  <a:pt x="1377800" y="5867835"/>
                  <a:pt x="1345702" y="5770498"/>
                  <a:pt x="1337254" y="5740279"/>
                </a:cubicBezTo>
                <a:cubicBezTo>
                  <a:pt x="1353956" y="5738860"/>
                  <a:pt x="1323673" y="5722040"/>
                  <a:pt x="1334321" y="5713042"/>
                </a:cubicBezTo>
                <a:cubicBezTo>
                  <a:pt x="1343675" y="5706701"/>
                  <a:pt x="1336672" y="5700118"/>
                  <a:pt x="1335877" y="5692870"/>
                </a:cubicBezTo>
                <a:cubicBezTo>
                  <a:pt x="1343201" y="5683812"/>
                  <a:pt x="1329617" y="5652064"/>
                  <a:pt x="1319978" y="5643427"/>
                </a:cubicBezTo>
                <a:cubicBezTo>
                  <a:pt x="1286551" y="5622177"/>
                  <a:pt x="1310947" y="5579803"/>
                  <a:pt x="1285321" y="5562271"/>
                </a:cubicBezTo>
                <a:cubicBezTo>
                  <a:pt x="1281540" y="5556238"/>
                  <a:pt x="1279983" y="5550455"/>
                  <a:pt x="1279815" y="5544867"/>
                </a:cubicBezTo>
                <a:lnTo>
                  <a:pt x="1282507" y="5529404"/>
                </a:lnTo>
                <a:lnTo>
                  <a:pt x="1289604" y="5525378"/>
                </a:lnTo>
                <a:lnTo>
                  <a:pt x="1287766" y="5515726"/>
                </a:lnTo>
                <a:lnTo>
                  <a:pt x="1288829" y="5513051"/>
                </a:lnTo>
                <a:cubicBezTo>
                  <a:pt x="1290896" y="5507946"/>
                  <a:pt x="1292688" y="5502897"/>
                  <a:pt x="1293373" y="5497833"/>
                </a:cubicBezTo>
                <a:cubicBezTo>
                  <a:pt x="1288690" y="5483829"/>
                  <a:pt x="1272696" y="5459278"/>
                  <a:pt x="1260736" y="5429027"/>
                </a:cubicBezTo>
                <a:cubicBezTo>
                  <a:pt x="1238579" y="5396416"/>
                  <a:pt x="1238884" y="5351600"/>
                  <a:pt x="1221610" y="5316328"/>
                </a:cubicBezTo>
                <a:lnTo>
                  <a:pt x="1216099" y="5309330"/>
                </a:lnTo>
                <a:lnTo>
                  <a:pt x="1217278" y="5279477"/>
                </a:lnTo>
                <a:cubicBezTo>
                  <a:pt x="1221588" y="5274318"/>
                  <a:pt x="1222716" y="5266940"/>
                  <a:pt x="1218469" y="5260597"/>
                </a:cubicBezTo>
                <a:lnTo>
                  <a:pt x="1206220" y="5152555"/>
                </a:lnTo>
                <a:cubicBezTo>
                  <a:pt x="1205294" y="5116878"/>
                  <a:pt x="1196908" y="5101727"/>
                  <a:pt x="1212921" y="5046536"/>
                </a:cubicBezTo>
                <a:cubicBezTo>
                  <a:pt x="1234138" y="4987918"/>
                  <a:pt x="1204801" y="4903116"/>
                  <a:pt x="1212183" y="4837345"/>
                </a:cubicBezTo>
                <a:cubicBezTo>
                  <a:pt x="1183151" y="4802424"/>
                  <a:pt x="1209228" y="4821062"/>
                  <a:pt x="1202048" y="4784195"/>
                </a:cubicBezTo>
                <a:cubicBezTo>
                  <a:pt x="1202483" y="4760878"/>
                  <a:pt x="1202919" y="4737561"/>
                  <a:pt x="1203354" y="4714245"/>
                </a:cubicBezTo>
                <a:lnTo>
                  <a:pt x="1201502" y="4700836"/>
                </a:lnTo>
                <a:lnTo>
                  <a:pt x="1194919" y="4697224"/>
                </a:lnTo>
                <a:lnTo>
                  <a:pt x="1187792" y="4677162"/>
                </a:lnTo>
                <a:cubicBezTo>
                  <a:pt x="1186060" y="4669625"/>
                  <a:pt x="1185291" y="4661478"/>
                  <a:pt x="1186080" y="4652429"/>
                </a:cubicBezTo>
                <a:cubicBezTo>
                  <a:pt x="1199189" y="4622456"/>
                  <a:pt x="1167081" y="4571771"/>
                  <a:pt x="1184722" y="4534840"/>
                </a:cubicBezTo>
                <a:cubicBezTo>
                  <a:pt x="1182407" y="4499077"/>
                  <a:pt x="1175424" y="4460227"/>
                  <a:pt x="1172188" y="4437851"/>
                </a:cubicBezTo>
                <a:cubicBezTo>
                  <a:pt x="1161331" y="4428466"/>
                  <a:pt x="1178123" y="4398274"/>
                  <a:pt x="1165306" y="4400581"/>
                </a:cubicBezTo>
                <a:cubicBezTo>
                  <a:pt x="1171061" y="4389819"/>
                  <a:pt x="1173552" y="4346771"/>
                  <a:pt x="1168602" y="4335651"/>
                </a:cubicBezTo>
                <a:lnTo>
                  <a:pt x="1178384" y="4280215"/>
                </a:lnTo>
                <a:lnTo>
                  <a:pt x="1177294" y="4274660"/>
                </a:lnTo>
                <a:cubicBezTo>
                  <a:pt x="1177138" y="4268882"/>
                  <a:pt x="1177520" y="4251103"/>
                  <a:pt x="1177448" y="4245552"/>
                </a:cubicBezTo>
                <a:cubicBezTo>
                  <a:pt x="1177252" y="4244155"/>
                  <a:pt x="1177058" y="4242757"/>
                  <a:pt x="1176863" y="4241361"/>
                </a:cubicBezTo>
                <a:lnTo>
                  <a:pt x="1162386" y="4207167"/>
                </a:lnTo>
                <a:cubicBezTo>
                  <a:pt x="1162950" y="4202536"/>
                  <a:pt x="1174655" y="4199565"/>
                  <a:pt x="1174343" y="4192380"/>
                </a:cubicBezTo>
                <a:lnTo>
                  <a:pt x="1160516" y="4164062"/>
                </a:lnTo>
                <a:lnTo>
                  <a:pt x="1161365" y="4158623"/>
                </a:lnTo>
                <a:lnTo>
                  <a:pt x="1144878" y="4076261"/>
                </a:lnTo>
                <a:lnTo>
                  <a:pt x="1123687" y="4005692"/>
                </a:lnTo>
                <a:lnTo>
                  <a:pt x="1096720" y="3754257"/>
                </a:lnTo>
                <a:cubicBezTo>
                  <a:pt x="1083618" y="3639924"/>
                  <a:pt x="1064313" y="3636659"/>
                  <a:pt x="1047682" y="3517638"/>
                </a:cubicBezTo>
                <a:cubicBezTo>
                  <a:pt x="1048550" y="3477187"/>
                  <a:pt x="1049418" y="3436735"/>
                  <a:pt x="1050285" y="3396284"/>
                </a:cubicBezTo>
                <a:lnTo>
                  <a:pt x="1030166" y="3320814"/>
                </a:lnTo>
                <a:lnTo>
                  <a:pt x="1034128" y="3260443"/>
                </a:lnTo>
                <a:lnTo>
                  <a:pt x="1007751" y="3198916"/>
                </a:lnTo>
                <a:cubicBezTo>
                  <a:pt x="1003323" y="3193074"/>
                  <a:pt x="1001150" y="3187393"/>
                  <a:pt x="1000384" y="3181839"/>
                </a:cubicBezTo>
                <a:cubicBezTo>
                  <a:pt x="1000734" y="3176675"/>
                  <a:pt x="1001085" y="3171511"/>
                  <a:pt x="1001435" y="3166346"/>
                </a:cubicBezTo>
                <a:lnTo>
                  <a:pt x="968918" y="3112638"/>
                </a:lnTo>
                <a:cubicBezTo>
                  <a:pt x="957125" y="3092489"/>
                  <a:pt x="955617" y="3065232"/>
                  <a:pt x="934483" y="3031628"/>
                </a:cubicBezTo>
                <a:cubicBezTo>
                  <a:pt x="914631" y="2997037"/>
                  <a:pt x="908933" y="3005661"/>
                  <a:pt x="879229" y="2948196"/>
                </a:cubicBezTo>
                <a:cubicBezTo>
                  <a:pt x="850845" y="2897154"/>
                  <a:pt x="820829" y="2806798"/>
                  <a:pt x="798666" y="2761198"/>
                </a:cubicBezTo>
                <a:cubicBezTo>
                  <a:pt x="773970" y="2714562"/>
                  <a:pt x="758278" y="2715446"/>
                  <a:pt x="746962" y="2694939"/>
                </a:cubicBezTo>
                <a:lnTo>
                  <a:pt x="712796" y="2614779"/>
                </a:lnTo>
                <a:lnTo>
                  <a:pt x="697701" y="2600020"/>
                </a:lnTo>
                <a:cubicBezTo>
                  <a:pt x="697743" y="2598787"/>
                  <a:pt x="697784" y="2597555"/>
                  <a:pt x="697823" y="2596321"/>
                </a:cubicBezTo>
                <a:lnTo>
                  <a:pt x="679645" y="2572602"/>
                </a:lnTo>
                <a:lnTo>
                  <a:pt x="680789" y="2571831"/>
                </a:lnTo>
                <a:cubicBezTo>
                  <a:pt x="682946" y="2569560"/>
                  <a:pt x="683757" y="2566863"/>
                  <a:pt x="681771" y="2563200"/>
                </a:cubicBezTo>
                <a:cubicBezTo>
                  <a:pt x="705290" y="2562299"/>
                  <a:pt x="688388" y="2558438"/>
                  <a:pt x="680456" y="2547723"/>
                </a:cubicBezTo>
                <a:cubicBezTo>
                  <a:pt x="679482" y="2534148"/>
                  <a:pt x="677183" y="2493617"/>
                  <a:pt x="675922" y="2481749"/>
                </a:cubicBezTo>
                <a:lnTo>
                  <a:pt x="672894" y="2476509"/>
                </a:lnTo>
                <a:lnTo>
                  <a:pt x="673143" y="2476297"/>
                </a:lnTo>
                <a:cubicBezTo>
                  <a:pt x="673152" y="2474932"/>
                  <a:pt x="672405" y="2473126"/>
                  <a:pt x="670567" y="2470561"/>
                </a:cubicBezTo>
                <a:lnTo>
                  <a:pt x="667369" y="2466951"/>
                </a:lnTo>
                <a:lnTo>
                  <a:pt x="661495" y="2456785"/>
                </a:lnTo>
                <a:cubicBezTo>
                  <a:pt x="661510" y="2455387"/>
                  <a:pt x="661525" y="2453987"/>
                  <a:pt x="661540" y="2452588"/>
                </a:cubicBezTo>
                <a:lnTo>
                  <a:pt x="664540" y="2449913"/>
                </a:lnTo>
                <a:lnTo>
                  <a:pt x="663581" y="2449129"/>
                </a:lnTo>
                <a:cubicBezTo>
                  <a:pt x="653014" y="2444453"/>
                  <a:pt x="642406" y="2445872"/>
                  <a:pt x="663129" y="2426579"/>
                </a:cubicBezTo>
                <a:cubicBezTo>
                  <a:pt x="643271" y="2414167"/>
                  <a:pt x="657229" y="2404769"/>
                  <a:pt x="650205" y="2379928"/>
                </a:cubicBezTo>
                <a:cubicBezTo>
                  <a:pt x="634911" y="2374359"/>
                  <a:pt x="634260" y="2365346"/>
                  <a:pt x="638008" y="2354824"/>
                </a:cubicBezTo>
                <a:cubicBezTo>
                  <a:pt x="621083" y="2334576"/>
                  <a:pt x="620949" y="2310146"/>
                  <a:pt x="609851" y="2284299"/>
                </a:cubicBezTo>
                <a:lnTo>
                  <a:pt x="585585" y="2155739"/>
                </a:lnTo>
                <a:lnTo>
                  <a:pt x="581391" y="2152892"/>
                </a:lnTo>
                <a:cubicBezTo>
                  <a:pt x="578821" y="2150768"/>
                  <a:pt x="577525" y="2149149"/>
                  <a:pt x="577083" y="2147807"/>
                </a:cubicBezTo>
                <a:lnTo>
                  <a:pt x="577251" y="2147544"/>
                </a:lnTo>
                <a:lnTo>
                  <a:pt x="546845" y="2085601"/>
                </a:lnTo>
                <a:cubicBezTo>
                  <a:pt x="538270" y="2073917"/>
                  <a:pt x="486356" y="1955894"/>
                  <a:pt x="470837" y="1931362"/>
                </a:cubicBezTo>
                <a:lnTo>
                  <a:pt x="428154" y="1657167"/>
                </a:lnTo>
                <a:lnTo>
                  <a:pt x="392797" y="1510175"/>
                </a:lnTo>
                <a:cubicBezTo>
                  <a:pt x="380165" y="1504446"/>
                  <a:pt x="369910" y="1451095"/>
                  <a:pt x="372847" y="1440507"/>
                </a:cubicBezTo>
                <a:cubicBezTo>
                  <a:pt x="369015" y="1433783"/>
                  <a:pt x="338503" y="1376212"/>
                  <a:pt x="344479" y="1367690"/>
                </a:cubicBezTo>
                <a:cubicBezTo>
                  <a:pt x="332264" y="1342150"/>
                  <a:pt x="321736" y="1310521"/>
                  <a:pt x="299558" y="1287266"/>
                </a:cubicBezTo>
                <a:cubicBezTo>
                  <a:pt x="277380" y="1264010"/>
                  <a:pt x="259203" y="1269909"/>
                  <a:pt x="243216" y="1249403"/>
                </a:cubicBezTo>
                <a:cubicBezTo>
                  <a:pt x="227230" y="1228898"/>
                  <a:pt x="218454" y="1166841"/>
                  <a:pt x="203639" y="1164232"/>
                </a:cubicBezTo>
                <a:cubicBezTo>
                  <a:pt x="192352" y="1144923"/>
                  <a:pt x="198158" y="1133798"/>
                  <a:pt x="169195" y="1087898"/>
                </a:cubicBezTo>
                <a:cubicBezTo>
                  <a:pt x="139228" y="1002950"/>
                  <a:pt x="140891" y="969630"/>
                  <a:pt x="98775" y="910071"/>
                </a:cubicBezTo>
                <a:cubicBezTo>
                  <a:pt x="45025" y="831068"/>
                  <a:pt x="34038" y="817468"/>
                  <a:pt x="43820" y="712632"/>
                </a:cubicBezTo>
                <a:cubicBezTo>
                  <a:pt x="34816" y="659496"/>
                  <a:pt x="43273" y="613587"/>
                  <a:pt x="44748" y="591246"/>
                </a:cubicBezTo>
                <a:lnTo>
                  <a:pt x="36767" y="546725"/>
                </a:lnTo>
                <a:cubicBezTo>
                  <a:pt x="36093" y="528360"/>
                  <a:pt x="35418" y="509996"/>
                  <a:pt x="34744" y="491632"/>
                </a:cubicBezTo>
                <a:cubicBezTo>
                  <a:pt x="34670" y="458441"/>
                  <a:pt x="29296" y="473054"/>
                  <a:pt x="29222" y="439863"/>
                </a:cubicBezTo>
                <a:cubicBezTo>
                  <a:pt x="29152" y="439762"/>
                  <a:pt x="2578" y="397168"/>
                  <a:pt x="2507" y="397065"/>
                </a:cubicBezTo>
                <a:cubicBezTo>
                  <a:pt x="-7796" y="385479"/>
                  <a:pt x="17492" y="336832"/>
                  <a:pt x="9810" y="317232"/>
                </a:cubicBezTo>
                <a:lnTo>
                  <a:pt x="25323" y="268841"/>
                </a:lnTo>
                <a:cubicBezTo>
                  <a:pt x="20582" y="241406"/>
                  <a:pt x="55391" y="238509"/>
                  <a:pt x="50278" y="195107"/>
                </a:cubicBezTo>
                <a:cubicBezTo>
                  <a:pt x="49891" y="157638"/>
                  <a:pt x="41873" y="124837"/>
                  <a:pt x="47653" y="93413"/>
                </a:cubicBezTo>
                <a:cubicBezTo>
                  <a:pt x="41389" y="80245"/>
                  <a:pt x="38874" y="67990"/>
                  <a:pt x="48323" y="56668"/>
                </a:cubicBezTo>
                <a:cubicBezTo>
                  <a:pt x="46028" y="30349"/>
                  <a:pt x="37896" y="18658"/>
                  <a:pt x="38423" y="5323"/>
                </a:cubicBezTo>
                <a:lnTo>
                  <a:pt x="39875" y="1"/>
                </a:lnTo>
                <a:close/>
              </a:path>
            </a:pathLst>
          </a:custGeom>
          <a:noFill/>
        </p:spPr>
      </p:pic>
      <p:sp>
        <p:nvSpPr>
          <p:cNvPr id="2" name="Title 1"/>
          <p:cNvSpPr>
            <a:spLocks noGrp="1"/>
          </p:cNvSpPr>
          <p:nvPr>
            <p:ph type="ctrTitle"/>
          </p:nvPr>
        </p:nvSpPr>
        <p:spPr>
          <a:xfrm>
            <a:off x="314595" y="796260"/>
            <a:ext cx="2371455" cy="1980186"/>
          </a:xfrm>
        </p:spPr>
        <p:txBody>
          <a:bodyPr>
            <a:normAutofit/>
          </a:bodyPr>
          <a:lstStyle/>
          <a:p>
            <a:pPr marL="0" lvl="0" indent="0" algn="l">
              <a:buNone/>
            </a:pPr>
            <a:r>
              <a:rPr lang="en-AU" sz="2700" dirty="0">
                <a:solidFill>
                  <a:schemeClr val="tx1">
                    <a:lumMod val="85000"/>
                    <a:lumOff val="15000"/>
                  </a:schemeClr>
                </a:solidFill>
              </a:rPr>
              <a:t>AI in Pedagogical Design and Delivery</a:t>
            </a:r>
          </a:p>
        </p:txBody>
      </p:sp>
      <p:sp>
        <p:nvSpPr>
          <p:cNvPr id="3" name="Subtitle 2"/>
          <p:cNvSpPr>
            <a:spLocks noGrp="1"/>
          </p:cNvSpPr>
          <p:nvPr>
            <p:ph type="subTitle" idx="1"/>
          </p:nvPr>
        </p:nvSpPr>
        <p:spPr>
          <a:xfrm>
            <a:off x="417566" y="2682359"/>
            <a:ext cx="2479567" cy="499352"/>
          </a:xfrm>
        </p:spPr>
        <p:txBody>
          <a:bodyPr>
            <a:normAutofit/>
          </a:bodyPr>
          <a:lstStyle/>
          <a:p>
            <a:pPr marL="0" lvl="0" indent="0" algn="l">
              <a:lnSpc>
                <a:spcPct val="90000"/>
              </a:lnSpc>
              <a:buNone/>
            </a:pPr>
            <a:br>
              <a:rPr lang="en-AU" sz="900" dirty="0">
                <a:solidFill>
                  <a:schemeClr val="tx1">
                    <a:lumMod val="85000"/>
                    <a:lumOff val="15000"/>
                  </a:schemeClr>
                </a:solidFill>
              </a:rPr>
            </a:br>
            <a:br>
              <a:rPr lang="en-AU" sz="900" dirty="0">
                <a:solidFill>
                  <a:schemeClr val="tx1">
                    <a:lumMod val="85000"/>
                    <a:lumOff val="15000"/>
                  </a:schemeClr>
                </a:solidFill>
              </a:rPr>
            </a:br>
            <a:r>
              <a:rPr lang="en-AU" sz="900" dirty="0">
                <a:solidFill>
                  <a:schemeClr val="tx1">
                    <a:lumMod val="85000"/>
                    <a:lumOff val="15000"/>
                  </a:schemeClr>
                </a:solidFill>
              </a:rPr>
              <a:t>Michael Borck</a:t>
            </a:r>
          </a:p>
        </p:txBody>
      </p:sp>
      <p:sp>
        <p:nvSpPr>
          <p:cNvPr id="4" name="Date Placeholder 3"/>
          <p:cNvSpPr>
            <a:spLocks noGrp="1"/>
          </p:cNvSpPr>
          <p:nvPr>
            <p:ph type="dt" sz="half" idx="10"/>
          </p:nvPr>
        </p:nvSpPr>
        <p:spPr>
          <a:xfrm>
            <a:off x="417566" y="3044789"/>
            <a:ext cx="2057400" cy="273844"/>
          </a:xfrm>
        </p:spPr>
        <p:txBody>
          <a:bodyPr>
            <a:normAutofit/>
          </a:bodyPr>
          <a:lstStyle/>
          <a:p>
            <a:pPr marL="0" lvl="0" indent="0">
              <a:spcAft>
                <a:spcPts val="600"/>
              </a:spcAft>
              <a:buNone/>
            </a:pPr>
            <a:r>
              <a:rPr lang="en-AU" sz="800" dirty="0">
                <a:solidFill>
                  <a:schemeClr val="tx1">
                    <a:lumMod val="50000"/>
                    <a:lumOff val="50000"/>
                  </a:schemeClr>
                </a:solidFill>
              </a:rPr>
              <a:t>2025-11-17</a:t>
            </a:r>
          </a:p>
        </p:txBody>
      </p:sp>
      <p:sp>
        <p:nvSpPr>
          <p:cNvPr id="7" name="TextBox 6">
            <a:extLst>
              <a:ext uri="{FF2B5EF4-FFF2-40B4-BE49-F238E27FC236}">
                <a16:creationId xmlns:a16="http://schemas.microsoft.com/office/drawing/2014/main" id="{343DB149-105D-6B1E-5C74-5BD4EE3CB927}"/>
              </a:ext>
            </a:extLst>
          </p:cNvPr>
          <p:cNvSpPr txBox="1"/>
          <p:nvPr/>
        </p:nvSpPr>
        <p:spPr>
          <a:xfrm>
            <a:off x="50141" y="4176581"/>
            <a:ext cx="2900362" cy="1169551"/>
          </a:xfrm>
          <a:prstGeom prst="rect">
            <a:avLst/>
          </a:prstGeom>
          <a:noFill/>
        </p:spPr>
        <p:txBody>
          <a:bodyPr wrap="square">
            <a:spAutoFit/>
          </a:bodyPr>
          <a:lstStyle/>
          <a:p>
            <a:pPr>
              <a:buNone/>
            </a:pPr>
            <a:r>
              <a:rPr lang="en-AU" sz="1000" b="0" i="0" dirty="0">
                <a:effectLst/>
                <a:latin typeface="-apple-system"/>
              </a:rPr>
              <a:t>Drafting and ideation for these materials were supported by generative AI tools, Python scripts, Quarto, and standard image editors under human oversight. All content has been reviewed, edited and verified by the author.</a:t>
            </a:r>
          </a:p>
          <a:p>
            <a:pPr>
              <a:buNone/>
            </a:pPr>
            <a:br>
              <a:rPr lang="en-AU" sz="1000" dirty="0"/>
            </a:b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What We’ll Do Today</a:t>
            </a:r>
          </a:p>
        </p:txBody>
      </p:sp>
      <p:sp>
        <p:nvSpPr>
          <p:cNvPr id="3" name="Content Placeholder 2"/>
          <p:cNvSpPr>
            <a:spLocks noGrp="1"/>
          </p:cNvSpPr>
          <p:nvPr>
            <p:ph idx="1"/>
          </p:nvPr>
        </p:nvSpPr>
        <p:spPr/>
        <p:txBody>
          <a:bodyPr>
            <a:normAutofit fontScale="77500" lnSpcReduction="20000"/>
          </a:bodyPr>
          <a:lstStyle/>
          <a:p>
            <a:pPr lvl="0"/>
            <a:r>
              <a:t>Set the scene: AI, Assessment 2030, and your context</a:t>
            </a:r>
            <a:br/>
            <a:endParaRPr/>
          </a:p>
          <a:p>
            <a:pPr lvl="0"/>
            <a:r>
              <a:t>Try out 5 hands‑on activities:</a:t>
            </a:r>
          </a:p>
          <a:p>
            <a:pPr lvl="1"/>
            <a:r>
              <a:t>Automate some of the tedious work</a:t>
            </a:r>
            <a:br/>
            <a:endParaRPr/>
          </a:p>
          <a:p>
            <a:pPr lvl="1"/>
            <a:r>
              <a:t>Design better prompts</a:t>
            </a:r>
            <a:br/>
            <a:endParaRPr/>
          </a:p>
          <a:p>
            <a:pPr lvl="1"/>
            <a:r>
              <a:t>Critique AI outputs with a simple framework</a:t>
            </a:r>
            <a:br/>
            <a:endParaRPr/>
          </a:p>
          <a:p>
            <a:pPr lvl="1"/>
            <a:r>
              <a:t>Use AI in a multi‑step workflow to probe or redesign a task</a:t>
            </a:r>
            <a:br/>
            <a:endParaRPr/>
          </a:p>
          <a:p>
            <a:pPr lvl="1"/>
            <a:r>
              <a:t>Make one small commitment about safe AI use</a:t>
            </a:r>
            <a:br/>
            <a:endParaRPr/>
          </a:p>
          <a:p>
            <a:pPr lvl="0"/>
            <a:r>
              <a:t>Wrap up with key takeaways and next steps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Intelligent Tutoring Systems (ITS)</a:t>
            </a:r>
          </a:p>
        </p:txBody>
      </p:sp>
      <p:pic>
        <p:nvPicPr>
          <p:cNvPr id="3" name="Picture 1" descr="../docs/images/itts-paths_nobg.png"/>
          <p:cNvPicPr>
            <a:picLocks noGrp="1" noChangeAspect="1"/>
          </p:cNvPicPr>
          <p:nvPr/>
        </p:nvPicPr>
        <p:blipFill>
          <a:blip r:embed="rId3">
            <a:extLst>
              <a:ext uri="{BEBA8EAE-BF5A-486C-A8C5-ECC9F3942E4B}">
                <a14:imgProps xmlns:a14="http://schemas.microsoft.com/office/drawing/2010/main">
                  <a14:imgLayer r:embed="rId4">
                    <a14:imgEffect>
                      <a14:brightnessContrast bright="-100000" contrast="100000"/>
                    </a14:imgEffect>
                  </a14:imgLayer>
                </a14:imgProps>
              </a:ext>
            </a:extLst>
          </a:blip>
          <a:stretch>
            <a:fillRect/>
          </a:stretch>
        </p:blipFill>
        <p:spPr bwMode="auto">
          <a:xfrm>
            <a:off x="585216" y="729488"/>
            <a:ext cx="7717536" cy="4414012"/>
          </a:xfrm>
          <a:prstGeom prst="rect">
            <a:avLst/>
          </a:prstGeom>
          <a:noFill/>
          <a:ln w="9525">
            <a:noFill/>
            <a:headEnd/>
            <a:tailEnd/>
          </a:ln>
        </p:spPr>
      </p:pic>
      <p:sp>
        <p:nvSpPr>
          <p:cNvPr id="4" name="TextBox 3">
            <a:extLst>
              <a:ext uri="{FF2B5EF4-FFF2-40B4-BE49-F238E27FC236}">
                <a16:creationId xmlns:a16="http://schemas.microsoft.com/office/drawing/2014/main" id="{2FE866E6-64BE-45C5-1C6B-975CF44928E5}"/>
              </a:ext>
            </a:extLst>
          </p:cNvPr>
          <p:cNvSpPr txBox="1"/>
          <p:nvPr/>
        </p:nvSpPr>
        <p:spPr>
          <a:xfrm>
            <a:off x="6943725" y="4568189"/>
            <a:ext cx="2050498" cy="369332"/>
          </a:xfrm>
          <a:prstGeom prst="rect">
            <a:avLst/>
          </a:prstGeom>
          <a:noFill/>
        </p:spPr>
        <p:txBody>
          <a:bodyPr wrap="none" rtlCol="0">
            <a:spAutoFit/>
          </a:bodyPr>
          <a:lstStyle/>
          <a:p>
            <a:r>
              <a:rPr lang="en-US" dirty="0"/>
              <a:t>AI Generated Image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Architect (Pedagogical Design)</a:t>
            </a:r>
          </a:p>
        </p:txBody>
      </p:sp>
      <p:pic>
        <p:nvPicPr>
          <p:cNvPr id="3" name="Picture 1" descr="../docs/images/architect_nobg.png"/>
          <p:cNvPicPr>
            <a:picLocks noGrp="1" noChangeAspect="1"/>
          </p:cNvPicPr>
          <p:nvPr/>
        </p:nvPicPr>
        <p:blipFill>
          <a:blip r:embed="rId3"/>
          <a:stretch>
            <a:fillRect/>
          </a:stretch>
        </p:blipFill>
        <p:spPr bwMode="auto">
          <a:xfrm>
            <a:off x="676656" y="852693"/>
            <a:ext cx="7187184" cy="4084828"/>
          </a:xfrm>
          <a:prstGeom prst="rect">
            <a:avLst/>
          </a:prstGeom>
          <a:noFill/>
          <a:ln w="9525">
            <a:noFill/>
            <a:headEnd/>
            <a:tailEnd/>
          </a:ln>
        </p:spPr>
      </p:pic>
      <p:sp>
        <p:nvSpPr>
          <p:cNvPr id="4" name="TextBox 3">
            <a:extLst>
              <a:ext uri="{FF2B5EF4-FFF2-40B4-BE49-F238E27FC236}">
                <a16:creationId xmlns:a16="http://schemas.microsoft.com/office/drawing/2014/main" id="{98D6FB3A-C4CB-8F9D-0555-509C6EFD1E9F}"/>
              </a:ext>
            </a:extLst>
          </p:cNvPr>
          <p:cNvSpPr txBox="1"/>
          <p:nvPr/>
        </p:nvSpPr>
        <p:spPr>
          <a:xfrm>
            <a:off x="6943725" y="4568189"/>
            <a:ext cx="2050498" cy="369332"/>
          </a:xfrm>
          <a:prstGeom prst="rect">
            <a:avLst/>
          </a:prstGeom>
          <a:noFill/>
        </p:spPr>
        <p:txBody>
          <a:bodyPr wrap="none" rtlCol="0">
            <a:spAutoFit/>
          </a:bodyPr>
          <a:lstStyle/>
          <a:p>
            <a:r>
              <a:rPr lang="en-US" dirty="0"/>
              <a:t>AI Generated Image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Practitioner (Pedagogical Delivery)</a:t>
            </a:r>
          </a:p>
        </p:txBody>
      </p:sp>
      <p:pic>
        <p:nvPicPr>
          <p:cNvPr id="3" name="Picture 1" descr="../docs/images/ai-copilot_nobg.png"/>
          <p:cNvPicPr>
            <a:picLocks noGrp="1" noChangeAspect="1"/>
          </p:cNvPicPr>
          <p:nvPr/>
        </p:nvPicPr>
        <p:blipFill>
          <a:blip r:embed="rId3"/>
          <a:stretch>
            <a:fillRect/>
          </a:stretch>
        </p:blipFill>
        <p:spPr bwMode="auto">
          <a:xfrm>
            <a:off x="457200" y="425704"/>
            <a:ext cx="8229600" cy="5072380"/>
          </a:xfrm>
          <a:prstGeom prst="rect">
            <a:avLst/>
          </a:prstGeom>
          <a:noFill/>
          <a:ln w="9525">
            <a:noFill/>
            <a:headEnd/>
            <a:tailEnd/>
          </a:ln>
        </p:spPr>
      </p:pic>
      <p:sp>
        <p:nvSpPr>
          <p:cNvPr id="4" name="TextBox 3">
            <a:extLst>
              <a:ext uri="{FF2B5EF4-FFF2-40B4-BE49-F238E27FC236}">
                <a16:creationId xmlns:a16="http://schemas.microsoft.com/office/drawing/2014/main" id="{5F1B42E0-14C3-23F4-052B-E9B85482765B}"/>
              </a:ext>
            </a:extLst>
          </p:cNvPr>
          <p:cNvSpPr txBox="1"/>
          <p:nvPr/>
        </p:nvSpPr>
        <p:spPr>
          <a:xfrm>
            <a:off x="6943725" y="4568189"/>
            <a:ext cx="2050498" cy="369332"/>
          </a:xfrm>
          <a:prstGeom prst="rect">
            <a:avLst/>
          </a:prstGeom>
          <a:noFill/>
        </p:spPr>
        <p:txBody>
          <a:bodyPr wrap="none" rtlCol="0">
            <a:spAutoFit/>
          </a:bodyPr>
          <a:lstStyle/>
          <a:p>
            <a:r>
              <a:rPr lang="en-US" dirty="0"/>
              <a:t>AI Generated Image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Challenges &amp; Limitations</a:t>
            </a:r>
          </a:p>
        </p:txBody>
      </p:sp>
      <p:pic>
        <p:nvPicPr>
          <p:cNvPr id="3" name="Picture 1" descr="../docs/images/challenges_nobg.png"/>
          <p:cNvPicPr>
            <a:picLocks noGrp="1" noChangeAspect="1"/>
          </p:cNvPicPr>
          <p:nvPr/>
        </p:nvPicPr>
        <p:blipFill>
          <a:blip r:embed="rId3"/>
          <a:srcRect b="8127"/>
          <a:stretch>
            <a:fillRect/>
          </a:stretch>
        </p:blipFill>
        <p:spPr bwMode="auto">
          <a:xfrm>
            <a:off x="621792" y="634604"/>
            <a:ext cx="7790688" cy="4508896"/>
          </a:xfrm>
          <a:prstGeom prst="rect">
            <a:avLst/>
          </a:prstGeom>
          <a:noFill/>
          <a:ln w="9525">
            <a:noFill/>
            <a:headEnd/>
            <a:tailEnd/>
          </a:ln>
        </p:spPr>
      </p:pic>
      <p:sp>
        <p:nvSpPr>
          <p:cNvPr id="4" name="TextBox 3">
            <a:extLst>
              <a:ext uri="{FF2B5EF4-FFF2-40B4-BE49-F238E27FC236}">
                <a16:creationId xmlns:a16="http://schemas.microsoft.com/office/drawing/2014/main" id="{152F11E3-2E3B-A0DE-6B4E-C2F91CC29BF6}"/>
              </a:ext>
            </a:extLst>
          </p:cNvPr>
          <p:cNvSpPr txBox="1"/>
          <p:nvPr/>
        </p:nvSpPr>
        <p:spPr>
          <a:xfrm>
            <a:off x="6943725" y="4568189"/>
            <a:ext cx="2050498" cy="369332"/>
          </a:xfrm>
          <a:prstGeom prst="rect">
            <a:avLst/>
          </a:prstGeom>
          <a:noFill/>
        </p:spPr>
        <p:txBody>
          <a:bodyPr wrap="none" rtlCol="0">
            <a:spAutoFit/>
          </a:bodyPr>
          <a:lstStyle/>
          <a:p>
            <a:r>
              <a:rPr lang="en-US" dirty="0"/>
              <a:t>AI Generated Image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Evolving Role of the Educator</a:t>
            </a:r>
          </a:p>
        </p:txBody>
      </p:sp>
      <p:pic>
        <p:nvPicPr>
          <p:cNvPr id="3" name="Picture 1" descr="../docs/images/rising-tide_nobg.png"/>
          <p:cNvPicPr>
            <a:picLocks noGrp="1" noChangeAspect="1"/>
          </p:cNvPicPr>
          <p:nvPr/>
        </p:nvPicPr>
        <p:blipFill>
          <a:blip r:embed="rId3"/>
          <a:srcRect t="25190" b="12734"/>
          <a:stretch>
            <a:fillRect/>
          </a:stretch>
        </p:blipFill>
        <p:spPr bwMode="auto">
          <a:xfrm>
            <a:off x="1121410" y="859536"/>
            <a:ext cx="6901180" cy="4283964"/>
          </a:xfrm>
          <a:prstGeom prst="rect">
            <a:avLst/>
          </a:prstGeom>
          <a:noFill/>
          <a:ln w="9525">
            <a:noFill/>
            <a:headEnd/>
            <a:tailEnd/>
          </a:ln>
        </p:spPr>
      </p:pic>
      <p:sp>
        <p:nvSpPr>
          <p:cNvPr id="4" name="TextBox 3">
            <a:extLst>
              <a:ext uri="{FF2B5EF4-FFF2-40B4-BE49-F238E27FC236}">
                <a16:creationId xmlns:a16="http://schemas.microsoft.com/office/drawing/2014/main" id="{3A7D7446-E1B5-F712-81E8-ABFDA8DDE8CA}"/>
              </a:ext>
            </a:extLst>
          </p:cNvPr>
          <p:cNvSpPr txBox="1"/>
          <p:nvPr/>
        </p:nvSpPr>
        <p:spPr>
          <a:xfrm>
            <a:off x="6943725" y="4568189"/>
            <a:ext cx="2050498" cy="369332"/>
          </a:xfrm>
          <a:prstGeom prst="rect">
            <a:avLst/>
          </a:prstGeom>
          <a:noFill/>
        </p:spPr>
        <p:txBody>
          <a:bodyPr wrap="none" rtlCol="0">
            <a:spAutoFit/>
          </a:bodyPr>
          <a:lstStyle/>
          <a:p>
            <a:r>
              <a:rPr lang="en-US" dirty="0"/>
              <a:t>AI Generated Image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Activity 1: Automate the Tedious</a:t>
            </a:r>
          </a:p>
        </p:txBody>
      </p:sp>
      <p:pic>
        <p:nvPicPr>
          <p:cNvPr id="3" name="Picture 1" descr="../docs/images/automate_nobg.png"/>
          <p:cNvPicPr>
            <a:picLocks noGrp="1" noChangeAspect="1"/>
          </p:cNvPicPr>
          <p:nvPr/>
        </p:nvPicPr>
        <p:blipFill>
          <a:blip r:embed="rId3"/>
          <a:stretch>
            <a:fillRect/>
          </a:stretch>
        </p:blipFill>
        <p:spPr bwMode="auto">
          <a:xfrm>
            <a:off x="1481328" y="498058"/>
            <a:ext cx="6489700" cy="4645442"/>
          </a:xfrm>
          <a:prstGeom prst="rect">
            <a:avLst/>
          </a:prstGeom>
          <a:noFill/>
          <a:ln w="9525">
            <a:noFill/>
            <a:headEnd/>
            <a:tailEnd/>
          </a:ln>
        </p:spPr>
      </p:pic>
      <p:sp>
        <p:nvSpPr>
          <p:cNvPr id="4" name="TextBox 3">
            <a:extLst>
              <a:ext uri="{FF2B5EF4-FFF2-40B4-BE49-F238E27FC236}">
                <a16:creationId xmlns:a16="http://schemas.microsoft.com/office/drawing/2014/main" id="{8A38906C-FD42-B837-BFD7-7F7CD189B711}"/>
              </a:ext>
            </a:extLst>
          </p:cNvPr>
          <p:cNvSpPr txBox="1"/>
          <p:nvPr/>
        </p:nvSpPr>
        <p:spPr>
          <a:xfrm>
            <a:off x="6944658" y="4645442"/>
            <a:ext cx="2050498" cy="369332"/>
          </a:xfrm>
          <a:prstGeom prst="rect">
            <a:avLst/>
          </a:prstGeom>
          <a:noFill/>
        </p:spPr>
        <p:txBody>
          <a:bodyPr wrap="none" rtlCol="0">
            <a:spAutoFit/>
          </a:bodyPr>
          <a:lstStyle/>
          <a:p>
            <a:r>
              <a:rPr lang="en-US" dirty="0"/>
              <a:t>AI Generated Image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Activity 2: The Art of the Prompt</a:t>
            </a:r>
          </a:p>
        </p:txBody>
      </p:sp>
      <p:pic>
        <p:nvPicPr>
          <p:cNvPr id="3" name="Picture 1" descr="../docs/images/prompt_nobg.png"/>
          <p:cNvPicPr>
            <a:picLocks noGrp="1" noChangeAspect="1"/>
          </p:cNvPicPr>
          <p:nvPr/>
        </p:nvPicPr>
        <p:blipFill>
          <a:blip r:embed="rId3"/>
          <a:srcRect t="7085" b="12448"/>
          <a:stretch>
            <a:fillRect/>
          </a:stretch>
        </p:blipFill>
        <p:spPr bwMode="auto">
          <a:xfrm>
            <a:off x="457200" y="841248"/>
            <a:ext cx="8229600" cy="4096273"/>
          </a:xfrm>
          <a:prstGeom prst="rect">
            <a:avLst/>
          </a:prstGeom>
          <a:noFill/>
          <a:ln w="9525">
            <a:noFill/>
            <a:headEnd/>
            <a:tailEnd/>
          </a:ln>
        </p:spPr>
      </p:pic>
      <p:sp>
        <p:nvSpPr>
          <p:cNvPr id="4" name="TextBox 3">
            <a:extLst>
              <a:ext uri="{FF2B5EF4-FFF2-40B4-BE49-F238E27FC236}">
                <a16:creationId xmlns:a16="http://schemas.microsoft.com/office/drawing/2014/main" id="{0EC005CD-867E-4646-6BA3-9B845EC2BB10}"/>
              </a:ext>
            </a:extLst>
          </p:cNvPr>
          <p:cNvSpPr txBox="1"/>
          <p:nvPr/>
        </p:nvSpPr>
        <p:spPr>
          <a:xfrm>
            <a:off x="6972300" y="4752855"/>
            <a:ext cx="2050498" cy="369332"/>
          </a:xfrm>
          <a:prstGeom prst="rect">
            <a:avLst/>
          </a:prstGeom>
          <a:noFill/>
        </p:spPr>
        <p:txBody>
          <a:bodyPr wrap="none" rtlCol="0">
            <a:spAutoFit/>
          </a:bodyPr>
          <a:lstStyle/>
          <a:p>
            <a:r>
              <a:rPr lang="en-US" dirty="0"/>
              <a:t>AI Generated Image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Activity 3: Your 5-Step Critique Framework</a:t>
            </a:r>
          </a:p>
        </p:txBody>
      </p:sp>
      <p:pic>
        <p:nvPicPr>
          <p:cNvPr id="3" name="Picture 1" descr="../docs/images/check_nobg.png"/>
          <p:cNvPicPr>
            <a:picLocks noGrp="1" noChangeAspect="1"/>
          </p:cNvPicPr>
          <p:nvPr/>
        </p:nvPicPr>
        <p:blipFill>
          <a:blip r:embed="rId3"/>
          <a:srcRect t="17150" b="17036"/>
          <a:stretch>
            <a:fillRect/>
          </a:stretch>
        </p:blipFill>
        <p:spPr bwMode="auto">
          <a:xfrm>
            <a:off x="0" y="1063228"/>
            <a:ext cx="9144000" cy="4080271"/>
          </a:xfrm>
          <a:prstGeom prst="rect">
            <a:avLst/>
          </a:prstGeom>
          <a:noFill/>
          <a:ln w="9525">
            <a:noFill/>
            <a:headEnd/>
            <a:tailEnd/>
          </a:ln>
        </p:spPr>
      </p:pic>
      <p:sp>
        <p:nvSpPr>
          <p:cNvPr id="4" name="TextBox 3">
            <a:extLst>
              <a:ext uri="{FF2B5EF4-FFF2-40B4-BE49-F238E27FC236}">
                <a16:creationId xmlns:a16="http://schemas.microsoft.com/office/drawing/2014/main" id="{79FB18F3-0FB0-1333-38E2-40BC829CD6C8}"/>
              </a:ext>
            </a:extLst>
          </p:cNvPr>
          <p:cNvSpPr txBox="1"/>
          <p:nvPr/>
        </p:nvSpPr>
        <p:spPr>
          <a:xfrm>
            <a:off x="6943725" y="4568189"/>
            <a:ext cx="2050498" cy="369332"/>
          </a:xfrm>
          <a:prstGeom prst="rect">
            <a:avLst/>
          </a:prstGeom>
          <a:noFill/>
        </p:spPr>
        <p:txBody>
          <a:bodyPr wrap="none" rtlCol="0">
            <a:spAutoFit/>
          </a:bodyPr>
          <a:lstStyle/>
          <a:p>
            <a:r>
              <a:rPr lang="en-US" dirty="0"/>
              <a:t>AI Generated Image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Activity 4: Unlocking The Impossible</a:t>
            </a:r>
          </a:p>
        </p:txBody>
      </p:sp>
      <p:pic>
        <p:nvPicPr>
          <p:cNvPr id="3" name="Picture 1" descr="../docs/images/stress_nobg.png"/>
          <p:cNvPicPr>
            <a:picLocks noGrp="1" noChangeAspect="1"/>
          </p:cNvPicPr>
          <p:nvPr/>
        </p:nvPicPr>
        <p:blipFill>
          <a:blip r:embed="rId3"/>
          <a:stretch>
            <a:fillRect/>
          </a:stretch>
        </p:blipFill>
        <p:spPr bwMode="auto">
          <a:xfrm>
            <a:off x="932688" y="1054989"/>
            <a:ext cx="6986016" cy="3882532"/>
          </a:xfrm>
          <a:prstGeom prst="rect">
            <a:avLst/>
          </a:prstGeom>
          <a:noFill/>
          <a:ln w="9525">
            <a:noFill/>
            <a:headEnd/>
            <a:tailEnd/>
          </a:ln>
        </p:spPr>
      </p:pic>
      <p:sp>
        <p:nvSpPr>
          <p:cNvPr id="4" name="TextBox 3">
            <a:extLst>
              <a:ext uri="{FF2B5EF4-FFF2-40B4-BE49-F238E27FC236}">
                <a16:creationId xmlns:a16="http://schemas.microsoft.com/office/drawing/2014/main" id="{24292A61-6A24-7955-51EB-4F149D6CFA0D}"/>
              </a:ext>
            </a:extLst>
          </p:cNvPr>
          <p:cNvSpPr txBox="1"/>
          <p:nvPr/>
        </p:nvSpPr>
        <p:spPr>
          <a:xfrm>
            <a:off x="6943725" y="4568189"/>
            <a:ext cx="2050498" cy="369332"/>
          </a:xfrm>
          <a:prstGeom prst="rect">
            <a:avLst/>
          </a:prstGeom>
          <a:noFill/>
        </p:spPr>
        <p:txBody>
          <a:bodyPr wrap="none" rtlCol="0">
            <a:spAutoFit/>
          </a:bodyPr>
          <a:lstStyle/>
          <a:p>
            <a:r>
              <a:rPr lang="en-US" dirty="0"/>
              <a:t>AI Generated Image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Activity 5: Secure, Safe, and Sustainable AI</a:t>
            </a:r>
          </a:p>
        </p:txBody>
      </p:sp>
      <p:pic>
        <p:nvPicPr>
          <p:cNvPr id="3" name="Picture 1" descr="../docs/images/safety_nobg.png"/>
          <p:cNvPicPr>
            <a:picLocks noGrp="1" noChangeAspect="1"/>
          </p:cNvPicPr>
          <p:nvPr/>
        </p:nvPicPr>
        <p:blipFill>
          <a:blip r:embed="rId3"/>
          <a:srcRect l="18214" t="8602" r="12413" b="7796"/>
          <a:stretch>
            <a:fillRect/>
          </a:stretch>
        </p:blipFill>
        <p:spPr bwMode="auto">
          <a:xfrm>
            <a:off x="2066544" y="877824"/>
            <a:ext cx="5468112" cy="4265676"/>
          </a:xfrm>
          <a:prstGeom prst="rect">
            <a:avLst/>
          </a:prstGeom>
          <a:noFill/>
          <a:ln w="9525">
            <a:noFill/>
            <a:headEnd/>
            <a:tailEnd/>
          </a:ln>
        </p:spPr>
      </p:pic>
      <p:sp>
        <p:nvSpPr>
          <p:cNvPr id="4" name="TextBox 3">
            <a:extLst>
              <a:ext uri="{FF2B5EF4-FFF2-40B4-BE49-F238E27FC236}">
                <a16:creationId xmlns:a16="http://schemas.microsoft.com/office/drawing/2014/main" id="{2DC65C8B-4F93-B1ED-B904-496EF9C7D534}"/>
              </a:ext>
            </a:extLst>
          </p:cNvPr>
          <p:cNvSpPr txBox="1"/>
          <p:nvPr/>
        </p:nvSpPr>
        <p:spPr>
          <a:xfrm>
            <a:off x="6943725" y="4568189"/>
            <a:ext cx="2050498" cy="369332"/>
          </a:xfrm>
          <a:prstGeom prst="rect">
            <a:avLst/>
          </a:prstGeom>
          <a:noFill/>
        </p:spPr>
        <p:txBody>
          <a:bodyPr wrap="none" rtlCol="0">
            <a:spAutoFit/>
          </a:bodyPr>
          <a:lstStyle/>
          <a:p>
            <a:r>
              <a:rPr lang="en-US" dirty="0"/>
              <a:t>AI Generated Image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Wrap-Up &amp; Next Steps</a:t>
            </a:r>
          </a:p>
        </p:txBody>
      </p:sp>
      <p:pic>
        <p:nvPicPr>
          <p:cNvPr id="3" name="Picture 1" descr="../docs/images/next_nobg.png"/>
          <p:cNvPicPr>
            <a:picLocks noGrp="1" noChangeAspect="1"/>
          </p:cNvPicPr>
          <p:nvPr/>
        </p:nvPicPr>
        <p:blipFill>
          <a:blip r:embed="rId3"/>
          <a:stretch>
            <a:fillRect/>
          </a:stretch>
        </p:blipFill>
        <p:spPr bwMode="auto">
          <a:xfrm>
            <a:off x="457200" y="804672"/>
            <a:ext cx="8229600" cy="4338828"/>
          </a:xfrm>
          <a:prstGeom prst="rect">
            <a:avLst/>
          </a:prstGeom>
          <a:noFill/>
          <a:ln w="9525">
            <a:noFill/>
            <a:headEnd/>
            <a:tailEnd/>
          </a:ln>
        </p:spPr>
      </p:pic>
      <p:sp>
        <p:nvSpPr>
          <p:cNvPr id="4" name="TextBox 3">
            <a:extLst>
              <a:ext uri="{FF2B5EF4-FFF2-40B4-BE49-F238E27FC236}">
                <a16:creationId xmlns:a16="http://schemas.microsoft.com/office/drawing/2014/main" id="{A5FFAE19-FE95-90D7-FC86-EA76B0F14178}"/>
              </a:ext>
            </a:extLst>
          </p:cNvPr>
          <p:cNvSpPr txBox="1"/>
          <p:nvPr/>
        </p:nvSpPr>
        <p:spPr>
          <a:xfrm>
            <a:off x="6943725" y="4568189"/>
            <a:ext cx="2050498" cy="369332"/>
          </a:xfrm>
          <a:prstGeom prst="rect">
            <a:avLst/>
          </a:prstGeom>
          <a:noFill/>
        </p:spPr>
        <p:txBody>
          <a:bodyPr wrap="none" rtlCol="0">
            <a:spAutoFit/>
          </a:bodyPr>
          <a:lstStyle/>
          <a:p>
            <a:r>
              <a:rPr lang="en-US" dirty="0"/>
              <a:t>AI Generated Image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extLst>
              <p:ext uri="{D42A27DB-BD31-4B8C-83A1-F6EECF244321}">
                <p14:modId xmlns:p14="http://schemas.microsoft.com/office/powerpoint/2010/main" val="3518197034"/>
              </p:ext>
            </p:extLst>
          </p:nvPr>
        </p:nvGraphicFramePr>
        <p:xfrm>
          <a:off x="0" y="211880"/>
          <a:ext cx="9144000" cy="4719740"/>
        </p:xfrm>
        <a:graphic>
          <a:graphicData uri="http://schemas.openxmlformats.org/drawingml/2006/table">
            <a:tbl>
              <a:tblPr firstRow="1" bandRow="1">
                <a:tableStyleId>{5C22544A-7EE6-4342-B048-85BDC9FD1C3A}</a:tableStyleId>
              </a:tblPr>
              <a:tblGrid>
                <a:gridCol w="2889504">
                  <a:extLst>
                    <a:ext uri="{9D8B030D-6E8A-4147-A177-3AD203B41FA5}">
                      <a16:colId xmlns:a16="http://schemas.microsoft.com/office/drawing/2014/main" val="20000"/>
                    </a:ext>
                  </a:extLst>
                </a:gridCol>
                <a:gridCol w="6254496">
                  <a:extLst>
                    <a:ext uri="{9D8B030D-6E8A-4147-A177-3AD203B41FA5}">
                      <a16:colId xmlns:a16="http://schemas.microsoft.com/office/drawing/2014/main" val="20001"/>
                    </a:ext>
                  </a:extLst>
                </a:gridCol>
              </a:tblGrid>
              <a:tr h="225486">
                <a:tc>
                  <a:txBody>
                    <a:bodyPr/>
                    <a:lstStyle/>
                    <a:p>
                      <a:pPr marL="0" lvl="0" indent="0">
                        <a:buNone/>
                      </a:pPr>
                      <a:r>
                        <a:t>Reference (short)</a:t>
                      </a:r>
                    </a:p>
                  </a:txBody>
                  <a:tcPr/>
                </a:tc>
                <a:tc>
                  <a:txBody>
                    <a:bodyPr/>
                    <a:lstStyle/>
                    <a:p>
                      <a:pPr marL="0" lvl="0" indent="0">
                        <a:buNone/>
                      </a:pPr>
                      <a:r>
                        <a:t>Main slide(s) / themes</a:t>
                      </a:r>
                    </a:p>
                  </a:txBody>
                  <a:tcPr/>
                </a:tc>
                <a:extLst>
                  <a:ext uri="{0D108BD9-81ED-4DB2-BD59-A6C34878D82A}">
                    <a16:rowId xmlns:a16="http://schemas.microsoft.com/office/drawing/2014/main" val="10000"/>
                  </a:ext>
                </a:extLst>
              </a:tr>
              <a:tr h="381592">
                <a:tc>
                  <a:txBody>
                    <a:bodyPr/>
                    <a:lstStyle/>
                    <a:p>
                      <a:pPr marL="0" lvl="0" indent="0">
                        <a:buNone/>
                      </a:pPr>
                      <a:r>
                        <a:rPr dirty="0"/>
                        <a:t>Bloom (1984) – 2 Sigma Problem</a:t>
                      </a:r>
                    </a:p>
                  </a:txBody>
                  <a:tcPr/>
                </a:tc>
                <a:tc>
                  <a:txBody>
                    <a:bodyPr/>
                    <a:lstStyle/>
                    <a:p>
                      <a:pPr marL="0" lvl="0" indent="0">
                        <a:buNone/>
                      </a:pPr>
                      <a:r>
                        <a:t>Welcome &amp; AI Landscape (1‑to‑1 tutoring vs classroom; what we’re trying to approximate).</a:t>
                      </a:r>
                    </a:p>
                  </a:txBody>
                  <a:tcPr/>
                </a:tc>
                <a:extLst>
                  <a:ext uri="{0D108BD9-81ED-4DB2-BD59-A6C34878D82A}">
                    <a16:rowId xmlns:a16="http://schemas.microsoft.com/office/drawing/2014/main" val="10001"/>
                  </a:ext>
                </a:extLst>
              </a:tr>
              <a:tr h="381592">
                <a:tc>
                  <a:txBody>
                    <a:bodyPr/>
                    <a:lstStyle/>
                    <a:p>
                      <a:pPr marL="0" lvl="0" indent="0">
                        <a:buNone/>
                      </a:pPr>
                      <a:r>
                        <a:rPr dirty="0"/>
                        <a:t>Sal Khan TED (2023) – </a:t>
                      </a:r>
                      <a:r>
                        <a:rPr i="1" dirty="0"/>
                        <a:t>How AI Could Save (Not Destroy) Education</a:t>
                      </a:r>
                    </a:p>
                  </a:txBody>
                  <a:tcPr/>
                </a:tc>
                <a:tc>
                  <a:txBody>
                    <a:bodyPr/>
                    <a:lstStyle/>
                    <a:p>
                      <a:pPr marL="0" lvl="0" indent="0">
                        <a:buNone/>
                      </a:pPr>
                      <a:r>
                        <a:t>Welcome (idea of AI tutor for every student, AI assistant for every teacher).</a:t>
                      </a:r>
                    </a:p>
                  </a:txBody>
                  <a:tcPr/>
                </a:tc>
                <a:extLst>
                  <a:ext uri="{0D108BD9-81ED-4DB2-BD59-A6C34878D82A}">
                    <a16:rowId xmlns:a16="http://schemas.microsoft.com/office/drawing/2014/main" val="10002"/>
                  </a:ext>
                </a:extLst>
              </a:tr>
              <a:tr h="381592">
                <a:tc>
                  <a:txBody>
                    <a:bodyPr/>
                    <a:lstStyle/>
                    <a:p>
                      <a:pPr marL="0" lvl="0" indent="0">
                        <a:buNone/>
                      </a:pPr>
                      <a:r>
                        <a:t>Noroozi et al. (2025)</a:t>
                      </a:r>
                    </a:p>
                  </a:txBody>
                  <a:tcPr/>
                </a:tc>
                <a:tc>
                  <a:txBody>
                    <a:bodyPr/>
                    <a:lstStyle/>
                    <a:p>
                      <a:pPr marL="0" lvl="0" indent="0">
                        <a:buNone/>
                      </a:pPr>
                      <a:r>
                        <a:t>Practitioner (human agency, real‑time intervention); Challenges &amp; Limitations; Evolving Role of the Educator.</a:t>
                      </a:r>
                    </a:p>
                  </a:txBody>
                  <a:tcPr/>
                </a:tc>
                <a:extLst>
                  <a:ext uri="{0D108BD9-81ED-4DB2-BD59-A6C34878D82A}">
                    <a16:rowId xmlns:a16="http://schemas.microsoft.com/office/drawing/2014/main" val="10003"/>
                  </a:ext>
                </a:extLst>
              </a:tr>
              <a:tr h="381592">
                <a:tc>
                  <a:txBody>
                    <a:bodyPr/>
                    <a:lstStyle/>
                    <a:p>
                      <a:pPr marL="0" lvl="0" indent="0">
                        <a:buNone/>
                      </a:pPr>
                      <a:r>
                        <a:t>Pireci Sejdiu &amp; Sejdiu (2025)</a:t>
                      </a:r>
                    </a:p>
                  </a:txBody>
                  <a:tcPr/>
                </a:tc>
                <a:tc>
                  <a:txBody>
                    <a:bodyPr/>
                    <a:lstStyle/>
                    <a:p>
                      <a:pPr marL="0" lvl="0" indent="0">
                        <a:buNone/>
                      </a:pPr>
                      <a:r>
                        <a:t>Architect &amp; Practitioner (quiet transformation of HE); Evolving Role of the Educator.</a:t>
                      </a:r>
                    </a:p>
                  </a:txBody>
                  <a:tcPr/>
                </a:tc>
                <a:extLst>
                  <a:ext uri="{0D108BD9-81ED-4DB2-BD59-A6C34878D82A}">
                    <a16:rowId xmlns:a16="http://schemas.microsoft.com/office/drawing/2014/main" val="10004"/>
                  </a:ext>
                </a:extLst>
              </a:tr>
              <a:tr h="381592">
                <a:tc>
                  <a:txBody>
                    <a:bodyPr/>
                    <a:lstStyle/>
                    <a:p>
                      <a:pPr marL="0" lvl="0" indent="0">
                        <a:buNone/>
                      </a:pPr>
                      <a:r>
                        <a:t>Park University (2025)</a:t>
                      </a:r>
                    </a:p>
                  </a:txBody>
                  <a:tcPr/>
                </a:tc>
                <a:tc>
                  <a:txBody>
                    <a:bodyPr/>
                    <a:lstStyle/>
                    <a:p>
                      <a:pPr marL="0" lvl="0" indent="0">
                        <a:buNone/>
                      </a:pPr>
                      <a:r>
                        <a:t>Intelligent Tutoring Systems (overview of ITS and benefits).</a:t>
                      </a:r>
                    </a:p>
                  </a:txBody>
                  <a:tcPr/>
                </a:tc>
                <a:extLst>
                  <a:ext uri="{0D108BD9-81ED-4DB2-BD59-A6C34878D82A}">
                    <a16:rowId xmlns:a16="http://schemas.microsoft.com/office/drawing/2014/main" val="10005"/>
                  </a:ext>
                </a:extLst>
              </a:tr>
              <a:tr h="381592">
                <a:tc>
                  <a:txBody>
                    <a:bodyPr/>
                    <a:lstStyle/>
                    <a:p>
                      <a:pPr marL="0" lvl="0" indent="0">
                        <a:buNone/>
                      </a:pPr>
                      <a:r>
                        <a:t>Li et al. (2025); Budiman et al. (2025); Kwak (2025); Chen (2025)</a:t>
                      </a:r>
                    </a:p>
                  </a:txBody>
                  <a:tcPr/>
                </a:tc>
                <a:tc>
                  <a:txBody>
                    <a:bodyPr/>
                    <a:lstStyle/>
                    <a:p>
                      <a:pPr marL="0" lvl="0" indent="0">
                        <a:buNone/>
                      </a:pPr>
                      <a:r>
                        <a:t>ITS &amp; Practitioner slides (evidence that AI‑mediated teaching can improve outcomes).</a:t>
                      </a:r>
                    </a:p>
                  </a:txBody>
                  <a:tcPr/>
                </a:tc>
                <a:extLst>
                  <a:ext uri="{0D108BD9-81ED-4DB2-BD59-A6C34878D82A}">
                    <a16:rowId xmlns:a16="http://schemas.microsoft.com/office/drawing/2014/main" val="10006"/>
                  </a:ext>
                </a:extLst>
              </a:tr>
              <a:tr h="381592">
                <a:tc>
                  <a:txBody>
                    <a:bodyPr/>
                    <a:lstStyle/>
                    <a:p>
                      <a:pPr marL="0" lvl="0" indent="0">
                        <a:buNone/>
                      </a:pPr>
                      <a:r>
                        <a:t>Rojas (2025)</a:t>
                      </a:r>
                    </a:p>
                  </a:txBody>
                  <a:tcPr/>
                </a:tc>
                <a:tc>
                  <a:txBody>
                    <a:bodyPr/>
                    <a:lstStyle/>
                    <a:p>
                      <a:pPr marL="0" lvl="0" indent="0">
                        <a:buNone/>
                      </a:pPr>
                      <a:r>
                        <a:t>Architect slide (instructional design in the AI era); Evolving Role of the Educator.</a:t>
                      </a:r>
                    </a:p>
                  </a:txBody>
                  <a:tcPr/>
                </a:tc>
                <a:extLst>
                  <a:ext uri="{0D108BD9-81ED-4DB2-BD59-A6C34878D82A}">
                    <a16:rowId xmlns:a16="http://schemas.microsoft.com/office/drawing/2014/main" val="10007"/>
                  </a:ext>
                </a:extLst>
              </a:tr>
              <a:tr h="381592">
                <a:tc>
                  <a:txBody>
                    <a:bodyPr/>
                    <a:lstStyle/>
                    <a:p>
                      <a:pPr marL="0" lvl="0" indent="0">
                        <a:buNone/>
                      </a:pPr>
                      <a:r>
                        <a:t>Dwivedi et al. (2023)</a:t>
                      </a:r>
                    </a:p>
                  </a:txBody>
                  <a:tcPr/>
                </a:tc>
                <a:tc>
                  <a:txBody>
                    <a:bodyPr/>
                    <a:lstStyle/>
                    <a:p>
                      <a:pPr marL="0" lvl="0" indent="0">
                        <a:buNone/>
                      </a:pPr>
                      <a:r>
                        <a:t>Challenges &amp; Limitations (opportunities vs misuse, integrity, policy gaps).</a:t>
                      </a:r>
                    </a:p>
                  </a:txBody>
                  <a:tcPr/>
                </a:tc>
                <a:extLst>
                  <a:ext uri="{0D108BD9-81ED-4DB2-BD59-A6C34878D82A}">
                    <a16:rowId xmlns:a16="http://schemas.microsoft.com/office/drawing/2014/main" val="10008"/>
                  </a:ext>
                </a:extLst>
              </a:tr>
              <a:tr h="381592">
                <a:tc>
                  <a:txBody>
                    <a:bodyPr/>
                    <a:lstStyle/>
                    <a:p>
                      <a:pPr marL="0" lvl="0" indent="0">
                        <a:buNone/>
                      </a:pPr>
                      <a:r>
                        <a:t>Gerlich (2025); Kosmyna et al. (2025)</a:t>
                      </a:r>
                    </a:p>
                  </a:txBody>
                  <a:tcPr/>
                </a:tc>
                <a:tc>
                  <a:txBody>
                    <a:bodyPr/>
                    <a:lstStyle/>
                    <a:p>
                      <a:pPr marL="0" lvl="0" indent="0">
                        <a:buNone/>
                      </a:pPr>
                      <a:r>
                        <a:t>Challenges &amp; Activity 3 (cognitive offloading / cognitive debt in AI‑assisted work).</a:t>
                      </a:r>
                    </a:p>
                  </a:txBody>
                  <a:tcPr/>
                </a:tc>
                <a:extLst>
                  <a:ext uri="{0D108BD9-81ED-4DB2-BD59-A6C34878D82A}">
                    <a16:rowId xmlns:a16="http://schemas.microsoft.com/office/drawing/2014/main" val="10009"/>
                  </a:ext>
                </a:extLst>
              </a:tr>
              <a:tr h="381592">
                <a:tc>
                  <a:txBody>
                    <a:bodyPr/>
                    <a:lstStyle/>
                    <a:p>
                      <a:pPr marL="0" lvl="0" indent="0">
                        <a:buNone/>
                      </a:pPr>
                      <a:r>
                        <a:t>Yin et al. (2025); EDUCAUSE (2025); TEQSA (2025); Russell Group (2023)</a:t>
                      </a:r>
                    </a:p>
                  </a:txBody>
                  <a:tcPr/>
                </a:tc>
                <a:tc>
                  <a:txBody>
                    <a:bodyPr/>
                    <a:lstStyle/>
                    <a:p>
                      <a:pPr marL="0" lvl="0" indent="0">
                        <a:buNone/>
                      </a:pPr>
                      <a:r>
                        <a:rPr dirty="0"/>
                        <a:t>Challenges &amp; Activity 5 (fairness, bias, ethics, institutional guidelines and guardrails).</a:t>
                      </a:r>
                    </a:p>
                  </a:txBody>
                  <a:tcPr/>
                </a:tc>
                <a:extLst>
                  <a:ext uri="{0D108BD9-81ED-4DB2-BD59-A6C34878D82A}">
                    <a16:rowId xmlns:a16="http://schemas.microsoft.com/office/drawing/2014/main" val="10010"/>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532</TotalTime>
  <Words>3229</Words>
  <Application>Microsoft Macintosh PowerPoint</Application>
  <PresentationFormat>On-screen Show (16:9)</PresentationFormat>
  <Paragraphs>143</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-apple-system</vt:lpstr>
      <vt:lpstr>Arial</vt:lpstr>
      <vt:lpstr>Calibri</vt:lpstr>
      <vt:lpstr>Office Theme</vt:lpstr>
      <vt:lpstr>AI in Pedagogical Design and Delivery</vt:lpstr>
      <vt:lpstr>What We’ll Do Today</vt:lpstr>
      <vt:lpstr>Intelligent Tutoring Systems (ITS)</vt:lpstr>
      <vt:lpstr>The Architect (Pedagogical Design)</vt:lpstr>
      <vt:lpstr>The Practitioner (Pedagogical Delivery)</vt:lpstr>
      <vt:lpstr>Challenges &amp; Limitations</vt:lpstr>
      <vt:lpstr>The Evolving Role of the Educator</vt:lpstr>
      <vt:lpstr>Activity 1: Automate the Tedious</vt:lpstr>
      <vt:lpstr>Activity 2: The Art of the Prompt</vt:lpstr>
      <vt:lpstr>Activity 3: Your 5-Step Critique Framework</vt:lpstr>
      <vt:lpstr>Activity 4: Unlocking The Impossible</vt:lpstr>
      <vt:lpstr>Activity 5: Secure, Safe, and Sustainable AI</vt:lpstr>
      <vt:lpstr>Wrap-Up &amp; Next Steps</vt:lpstr>
      <vt:lpstr>PowerPoint Presentation</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Pedagogical Design and Delivery</dc:title>
  <dc:creator>Michael Borck</dc:creator>
  <cp:keywords/>
  <cp:lastModifiedBy>Michael Borck</cp:lastModifiedBy>
  <cp:revision>6</cp:revision>
  <dcterms:created xsi:type="dcterms:W3CDTF">2025-11-16T23:01:32Z</dcterms:created>
  <dcterms:modified xsi:type="dcterms:W3CDTF">2025-11-18T03:10:33Z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2025-11-17</vt:lpwstr>
  </property>
  <property fmtid="{D5CDD505-2E9C-101B-9397-08002B2CF9AE}" pid="6" name="footer">
    <vt:lpwstr>AI in Pedagogical Design and Delivery | Michael Borck</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toc-title">
    <vt:lpwstr>Table of contents</vt:lpwstr>
  </property>
</Properties>
</file>