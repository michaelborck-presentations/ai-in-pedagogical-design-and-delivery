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Opening hook (Bloom + AI tutors):</a:t>
            </a:r>
          </a:p>
          <a:p>
            <a:pPr lvl="0" indent="0" marL="0">
              <a:buNone/>
            </a:pPr>
          </a:p>
          <a:p>
            <a:pPr lvl="0" indent="0" marL="1270000">
              <a:buNone/>
            </a:pPr>
            <a:r>
              <a:rPr sz="2000"/>
              <a:t>“Two standard deviations.</a:t>
            </a:r>
            <a:br/>
            <a:r>
              <a:rPr sz="2000"/>
              <a:t>[pause 2–3 seconds, make eye contact]</a:t>
            </a:r>
            <a:br/>
            <a:r>
              <a:rPr sz="2000"/>
              <a:t>That’s the gap Benjamin Bloom reported in the 1980s between students in a typical classroom and students who received </a:t>
            </a:r>
            <a:r>
              <a:rPr sz="2000" b="1"/>
              <a:t>one‑to‑one human tutoring</a:t>
            </a:r>
            <a:r>
              <a:rPr sz="2000"/>
              <a:t> – enough to turn an average student into a top performer.</a:t>
            </a:r>
          </a:p>
          <a:p>
            <a:pPr lvl="0" indent="0" marL="0">
              <a:buNone/>
            </a:pPr>
          </a:p>
          <a:p>
            <a:pPr lvl="0" indent="0" marL="1270000">
              <a:buNone/>
            </a:pPr>
            <a:r>
              <a:rPr sz="2000"/>
              <a:t>Fast‑forward forty years. Sal Khan – the Khan Academy guy – stands on a TED stage and says: with AI tutors and AI teaching assistants, we might finally be able to get </a:t>
            </a:r>
            <a:r>
              <a:rPr sz="2000" b="1"/>
              <a:t>something like that 2‑sigma effect at scale</a:t>
            </a:r>
            <a:r>
              <a:rPr sz="2000"/>
              <a:t>. A personal tutor for every student, and an AI assistant for every teacher.</a:t>
            </a:r>
          </a:p>
          <a:p>
            <a:pPr lvl="0" indent="0" marL="0">
              <a:buNone/>
            </a:pPr>
          </a:p>
          <a:p>
            <a:pPr lvl="0" indent="0" marL="1270000">
              <a:buNone/>
            </a:pPr>
            <a:r>
              <a:rPr sz="2000"/>
              <a:t>Whether that makes you excited or slightly ill, it raises a very practical question for us here at Curtin:</a:t>
            </a:r>
            <a:br/>
            <a:r>
              <a:rPr sz="2000"/>
              <a:t>If tools like this are going to sit in our students’ hands – and in our own enterprise Copilot environment – </a:t>
            </a:r>
            <a:r>
              <a:rPr sz="2000" b="1"/>
              <a:t>how do we design teaching, assessment and support so that we get the upside without losing what actually matters?</a:t>
            </a:r>
            <a:br/>
            <a:r>
              <a:rPr sz="2000"/>
              <a:t>And how does that sit alongside </a:t>
            </a:r>
            <a:r>
              <a:rPr sz="2000" b="1"/>
              <a:t>Assessment 2030</a:t>
            </a:r>
            <a:r>
              <a:rPr sz="2000"/>
              <a:t>, academic integrity, and the reality that students can now summon a ‘tutor’ at 2am from their phone?”</a:t>
            </a:r>
          </a:p>
          <a:p>
            <a:pPr lvl="0" indent="0" marL="0">
              <a:buNone/>
            </a:pPr>
          </a:p>
          <a:p>
            <a:pPr lvl="0" indent="0" marL="0">
              <a:buNone/>
            </a:pPr>
            <a:r>
              <a:rPr/>
              <a:t>To widen beyond teaching staff, you can add:</a:t>
            </a:r>
          </a:p>
          <a:p>
            <a:pPr lvl="0" indent="0" marL="0">
              <a:buNone/>
            </a:pPr>
          </a:p>
          <a:p>
            <a:pPr lvl="0" indent="0" marL="1270000">
              <a:buNone/>
            </a:pPr>
            <a:r>
              <a:rPr sz="2000"/>
              <a:t>“Even if you’re not teaching every day, there’s a similar promise in our research and professional roles – a kind of </a:t>
            </a:r>
            <a:r>
              <a:rPr sz="2000" b="1"/>
              <a:t>co‑pilot for the boring parts</a:t>
            </a:r>
            <a:r>
              <a:rPr sz="2000"/>
              <a:t> of our jobs – drafting, summarising, chasing patterns – so we can spend more time on work that needs human judgement and relationships.”</a:t>
            </a:r>
          </a:p>
          <a:p>
            <a:pPr lvl="0" indent="0" marL="0">
              <a:buNone/>
            </a:pPr>
          </a:p>
          <a:p>
            <a:pPr lvl="0" indent="0" marL="0">
              <a:buNone/>
            </a:pPr>
            <a:r>
              <a:rPr b="1"/>
              <a:t>Position the session:</a:t>
            </a:r>
          </a:p>
          <a:p>
            <a:pPr lvl="0" indent="0" marL="0">
              <a:buNone/>
            </a:pPr>
          </a:p>
          <a:p>
            <a:pPr lvl="0" indent="0" marL="1270000">
              <a:buNone/>
            </a:pPr>
            <a:r>
              <a:rPr sz="2000"/>
              <a:t>“That’s what this session is about. We’re going to:</a:t>
            </a:r>
            <a:br/>
            <a:r>
              <a:rPr sz="2000"/>
              <a:t>– Experiment with using AI to </a:t>
            </a:r>
            <a:r>
              <a:rPr sz="2000" b="1"/>
              <a:t>automate some of the tedious work</a:t>
            </a:r>
            <a:r>
              <a:rPr sz="2000"/>
              <a:t>,</a:t>
            </a:r>
            <a:br/>
            <a:r>
              <a:rPr sz="2000"/>
              <a:t>– Practise how to </a:t>
            </a:r>
            <a:r>
              <a:rPr sz="2000" b="1"/>
              <a:t>design prompts</a:t>
            </a:r>
            <a:r>
              <a:rPr sz="2000"/>
              <a:t> and </a:t>
            </a:r>
            <a:r>
              <a:rPr sz="2000" b="1"/>
              <a:t>critique AI outputs</a:t>
            </a:r>
            <a:r>
              <a:rPr sz="2000"/>
              <a:t>, and</a:t>
            </a:r>
            <a:br/>
            <a:r>
              <a:rPr sz="2000"/>
              <a:t>– Stress‑test our own assessments and practices in the spirit of </a:t>
            </a:r>
            <a:r>
              <a:rPr sz="2000" b="1"/>
              <a:t>Assessment 2030</a:t>
            </a:r>
            <a:r>
              <a:rPr sz="2000"/>
              <a:t> – not to ban AI, but to redesign so that </a:t>
            </a:r>
            <a:r>
              <a:rPr sz="2000" b="1"/>
              <a:t>student judgement, process, and human skills</a:t>
            </a:r>
            <a:r>
              <a:rPr sz="2000"/>
              <a:t> remain irreplaceable.”</a:t>
            </a:r>
          </a:p>
          <a:p>
            <a:pPr lvl="0" indent="0" marL="0">
              <a:buNone/>
            </a:pPr>
          </a:p>
          <a:p>
            <a:pPr lvl="0" indent="0" marL="0">
              <a:buNone/>
            </a:pPr>
            <a:r>
              <a:rPr/>
              <a:t>You can lightly nod to risks, but unpack them later:</a:t>
            </a:r>
          </a:p>
          <a:p>
            <a:pPr lvl="0" indent="0" marL="0">
              <a:buNone/>
            </a:pPr>
          </a:p>
          <a:p>
            <a:pPr lvl="0" indent="0" marL="1270000">
              <a:buNone/>
            </a:pPr>
            <a:r>
              <a:rPr sz="2000"/>
              <a:t>“We also know from recent work that if we lean too hard on these tools, we risk </a:t>
            </a:r>
            <a:r>
              <a:rPr sz="2000" b="1"/>
              <a:t>cognitive offloading</a:t>
            </a:r>
            <a:r>
              <a:rPr sz="2000"/>
              <a:t>, students feeling less connected, and making cheating easier if our assessments are too automatable. So we’ll spend as much time on </a:t>
            </a:r>
            <a:r>
              <a:rPr sz="2000" b="1"/>
              <a:t>how to critique and design around AI</a:t>
            </a:r>
            <a:r>
              <a:rPr sz="2000"/>
              <a:t> as we do on the shiny productivity side.”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the shape of the next two hours is roughly this: a bit of context to connect AI to Assessment 2030, then five very practical activities – automate, prompt, critique, multi‑step workflows, and safe use – and then a short wrap‑up.</a:t>
            </a:r>
          </a:p>
          <a:p>
            <a:pPr lvl="0" indent="0" marL="0">
              <a:buNone/>
            </a:pPr>
          </a:p>
          <a:p>
            <a:pPr lvl="0" indent="0" marL="0">
              <a:buNone/>
            </a:pPr>
            <a:r>
              <a:rPr/>
              <a:t>It’s designed to be mostly hands‑on and beginner‑friendly, with space for questions and discussion as we go.</a:t>
            </a:r>
          </a:p>
          <a:p>
            <a:pPr lvl="0" indent="0" marL="0">
              <a:buNone/>
            </a:pPr>
          </a:p>
          <a:p>
            <a:pPr lvl="0" indent="0" marL="0">
              <a:buNone/>
            </a:pPr>
            <a:r>
              <a:rPr/>
              <a:t>For Activity 4 we have two possible paths, depending on how much Assessment 2030 you’ve already had today:</a:t>
            </a:r>
            <a:br/>
            <a:r>
              <a:rPr/>
              <a:t>we can either probe one of our assessments with AI and discuss redesign, or we can use a multi‑step AI workflow to tackle one of those ‘impossible’ teaching or design problems. We’ll pick on the day based on the room.</a:t>
            </a:r>
          </a:p>
          <a:p>
            <a:pPr lvl="0" indent="0" marL="0">
              <a:buNone/>
            </a:pPr>
          </a:p>
          <a:p>
            <a:pPr lvl="0" indent="0" marL="0">
              <a:buNone/>
            </a:pPr>
            <a:r>
              <a:rPr/>
              <a:t>You can also briefly note that the </a:t>
            </a:r>
            <a:r>
              <a:rPr b="1"/>
              <a:t>presentation and companion website themselves</a:t>
            </a:r>
            <a:r>
              <a:rPr/>
              <a:t> are examples of using AI as a co‑pilot:</a:t>
            </a:r>
          </a:p>
          <a:p>
            <a:pPr lvl="0" indent="0" marL="0">
              <a:buNone/>
            </a:pPr>
          </a:p>
          <a:p>
            <a:pPr lvl="0" indent="0" marL="1270000">
              <a:buNone/>
            </a:pPr>
            <a:r>
              <a:rPr sz="2000"/>
              <a:t>“Just as we’ll explore today, these slides and the website were developed with AI support – for drafting, structuring and idea generation – but always with human oversight, editing and verification. So this session is very much about </a:t>
            </a:r>
            <a:r>
              <a:rPr sz="2000" i="1"/>
              <a:t>walking the talk</a:t>
            </a:r>
            <a:r>
              <a:rPr sz="2000"/>
              <a:t> as well as talking about it.”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Key Takeaway:</a:t>
            </a:r>
            <a:r>
              <a:rPr/>
              <a:t> ITS deliver </a:t>
            </a:r>
            <a:r>
              <a:rPr b="1"/>
              <a:t>personalised, one-on-one instruction</a:t>
            </a:r>
            <a:r>
              <a:rPr/>
              <a:t> by relying on an integrated architecture of four key components: the </a:t>
            </a:r>
            <a:r>
              <a:rPr b="1"/>
              <a:t>Domain Model</a:t>
            </a:r>
            <a:r>
              <a:rPr/>
              <a:t> (what is taught), the </a:t>
            </a:r>
            <a:r>
              <a:rPr b="1"/>
              <a:t>Learner Model</a:t>
            </a:r>
            <a:r>
              <a:rPr/>
              <a:t> (who is learning, including successes and misconceptions), the </a:t>
            </a:r>
            <a:r>
              <a:rPr b="1"/>
              <a:t>Tutoring Model</a:t>
            </a:r>
            <a:r>
              <a:rPr/>
              <a:t> (how to teach), and the </a:t>
            </a:r>
            <a:r>
              <a:rPr b="1"/>
              <a:t>User Interface Model</a:t>
            </a:r>
            <a:r>
              <a:rPr/>
              <a:t> (interaction). The quality of instruction is directly determined by the sophistication of these underlying models, which collectively ensure that the system adjusts the pace, difficulty, and focus of lessons in real-time.</a:t>
            </a:r>
          </a:p>
          <a:p>
            <a:pPr lvl="0" indent="0" marL="0">
              <a:buNone/>
            </a:pPr>
          </a:p>
          <a:p>
            <a:pPr lvl="0" indent="0" marL="0">
              <a:buNone/>
            </a:pPr>
            <a:r>
              <a:rPr b="1"/>
              <a:t>Analogy:</a:t>
            </a:r>
            <a:r>
              <a:rPr/>
              <a:t> Intelligent Tutoring Systems function much like an automated personal trainer at a gym. Just as the trainer analyzes your current fitness level, pace, and weaknesses (the </a:t>
            </a:r>
            <a:r>
              <a:rPr b="1"/>
              <a:t>Student Model</a:t>
            </a:r>
            <a:r>
              <a:rPr/>
              <a:t>), knows the curriculum of exercises (the </a:t>
            </a:r>
            <a:r>
              <a:rPr b="1"/>
              <a:t>Domain Model</a:t>
            </a:r>
            <a:r>
              <a:rPr/>
              <a:t>), and determines the optimal routine to challenge you without overwhelming you (the </a:t>
            </a:r>
            <a:r>
              <a:rPr b="1"/>
              <a:t>Tutoring Model</a:t>
            </a:r>
            <a:r>
              <a:rPr/>
              <a:t>), the ITS continuously adjusts the learning path to ensure instruction is both challenging and achievable, promoting deeper understanding.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Key Takeaway:</a:t>
            </a:r>
            <a:r>
              <a:rPr/>
              <a:t> AI fundamentally transforms the pedagogical designer’s role from a manual content creator to a </a:t>
            </a:r>
            <a:r>
              <a:rPr b="1"/>
              <a:t>Strategic Architect</a:t>
            </a:r>
            <a:r>
              <a:rPr/>
              <a:t> by automating previously slow and tedious tasks, such as generating course outlines, assessments, and multimedia. This automation forces the designer to focus on </a:t>
            </a:r>
            <a:r>
              <a:rPr b="1"/>
              <a:t>high-level, human-centric design</a:t>
            </a:r>
            <a:r>
              <a:rPr/>
              <a:t>—creating flexible, dynamic frameworks and addressing emotional barriers to learning, rather than formatting slides or writing quiz questions.</a:t>
            </a:r>
          </a:p>
          <a:p>
            <a:pPr lvl="0" indent="0" marL="0">
              <a:buNone/>
            </a:pPr>
          </a:p>
          <a:p>
            <a:pPr lvl="0" indent="0" marL="0">
              <a:buNone/>
            </a:pPr>
            <a:r>
              <a:rPr b="1"/>
              <a:t>Analogy:</a:t>
            </a:r>
            <a:r>
              <a:rPr/>
              <a:t> If traditional pedagogical design was like crafting a single, hand-built ship (a static course) that everyone had to sail on, the AI era redesigns the role of the architect. The new Pedagogical Architect now designs a complex, adaptive fleet where each ship (module) can adjust its sails, speed, and navigation (difficulty, pace, content) based on the real-time weather (student performance data), ensuring everyone reaches their destination, but along a personalised route. The architect’s most critical new job is ensuring the human crew (teachers and students) still communicate and build rapport, not just follow the automated navigation system.</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Key Takeaway:</a:t>
            </a:r>
            <a:r>
              <a:rPr/>
              <a:t> AI revolutionizes pedagogical delivery by collapsing the feedback loop and providing educators with </a:t>
            </a:r>
            <a:r>
              <a:rPr b="1"/>
              <a:t>real-time data insights</a:t>
            </a:r>
            <a:r>
              <a:rPr/>
              <a:t> into student progress, performance patterns, and cognitive states. This data-driven delivery allows the human teacher to transition into a </a:t>
            </a:r>
            <a:r>
              <a:rPr b="1"/>
              <a:t>“real-time interventionist,”</a:t>
            </a:r>
            <a:r>
              <a:rPr/>
              <a:t> enabling them to abandon content presentation to the “average” student and instead focus on targeted, high-value interventions based on immediate, actionable data. It can be viewed the impact of AI on pedagogical delivery not as a replacement for the teacher, but as an augmented reality for the classroom. AI handles the mechanics of instruction and data analysis, allowing the human practitioner to execute their craft with surgical precision, focusing their limited time on high-value, empathetic, and complex human interactions.</a:t>
            </a:r>
          </a:p>
          <a:p>
            <a:pPr lvl="0" indent="0" marL="0">
              <a:buNone/>
            </a:pPr>
          </a:p>
          <a:p>
            <a:pPr lvl="0" indent="0" marL="0">
              <a:buNone/>
            </a:pPr>
            <a:r>
              <a:rPr b="1"/>
              <a:t>Analogy:</a:t>
            </a:r>
            <a:r>
              <a:rPr/>
              <a:t>. AI in the classroom functions as an AI Co-Pilot. The AI (co-pilot) handles the routine mechanics of flight (content delivery, system monitoring, and performance tracking), allowing the human pilot (the educator) to focus on complex navigation, communicating with the crew (students), and managing unexpected turbulence (misconceptions or emotional barriers) with surgical precision.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Key Takeaway:</a:t>
            </a:r>
            <a:r>
              <a:rPr/>
              <a:t> Despite the technological promise, a critical challenge for AIED is the </a:t>
            </a:r>
            <a:r>
              <a:rPr b="1"/>
              <a:t>risk of eroding the human element</a:t>
            </a:r>
            <a:r>
              <a:rPr/>
              <a:t> and exacerbating </a:t>
            </a:r>
            <a:r>
              <a:rPr b="1"/>
              <a:t>educational inequity</a:t>
            </a:r>
            <a:r>
              <a:rPr/>
              <a:t> through algorithmic bias. Over-reliance on ITS and generative tools can reduce valuable face-to-face interactions, while studies show that students using AI sometimes feel </a:t>
            </a:r>
            <a:r>
              <a:rPr b="1"/>
              <a:t>less connected to their teachers</a:t>
            </a:r>
            <a:r>
              <a:rPr/>
              <a:t> (the “paradox of connection”). Furthermore, predictive models trained on historical data risk perpetuating existing biases against marginalized groups when allocating resources or flagging “at-risk” learners.</a:t>
            </a:r>
          </a:p>
          <a:p>
            <a:pPr lvl="0" indent="0" marL="0">
              <a:buNone/>
            </a:pPr>
          </a:p>
          <a:p>
            <a:pPr lvl="0" indent="0" marL="0">
              <a:buNone/>
            </a:pPr>
            <a:r>
              <a:rPr/>
              <a:t>Recent work also highlights broader risks: generative AI can </a:t>
            </a:r>
            <a:r>
              <a:rPr b="1"/>
              <a:t>hallucinate</a:t>
            </a:r>
            <a:r>
              <a:rPr/>
              <a:t> plausible but incorrect information, enable large‑scale </a:t>
            </a:r>
            <a:r>
              <a:rPr b="1"/>
              <a:t>misinformation and deepfakes</a:t>
            </a:r>
            <a:r>
              <a:rPr/>
              <a:t>, and make it easier to </a:t>
            </a:r>
            <a:r>
              <a:rPr b="1"/>
              <a:t>circumvent traditional assessments</a:t>
            </a:r>
            <a:r>
              <a:rPr/>
              <a:t> if those tasks are easily automated. These are not reasons to ban AI outright, but reasons to </a:t>
            </a:r>
            <a:r>
              <a:rPr b="1"/>
              <a:t>redesign tasks and guardrails</a:t>
            </a:r>
            <a:r>
              <a:rPr/>
              <a:t> so that human judgement and process remain visible.</a:t>
            </a:r>
          </a:p>
          <a:p>
            <a:pPr lvl="0" indent="0" marL="0">
              <a:buNone/>
            </a:pPr>
          </a:p>
          <a:p>
            <a:pPr lvl="0" indent="0" marL="0">
              <a:buNone/>
            </a:pPr>
            <a:r>
              <a:rPr/>
              <a:t>You can link this directly to </a:t>
            </a:r>
            <a:r>
              <a:rPr b="1"/>
              <a:t>Assessment 2030</a:t>
            </a:r>
            <a:r>
              <a:rPr/>
              <a:t> and later activities:</a:t>
            </a:r>
          </a:p>
          <a:p>
            <a:pPr lvl="0" indent="0" marL="0">
              <a:buNone/>
            </a:pPr>
          </a:p>
          <a:p>
            <a:pPr lvl="0" indent="0" marL="1270000">
              <a:buNone/>
            </a:pPr>
            <a:r>
              <a:rPr sz="2000"/>
              <a:t>“Assessment 2030 is essentially our institutional response to these challenges. Rather than pretending AI doesn’t exist, we redesign assessment and learning activities so that </a:t>
            </a:r>
            <a:r>
              <a:rPr sz="2000" b="1"/>
              <a:t>student thinking and judgement</a:t>
            </a:r>
            <a:r>
              <a:rPr sz="2000"/>
              <a:t> are what really matter. Activities 3–5 in this workshop are about giving you practical ways to do that.”</a:t>
            </a:r>
          </a:p>
          <a:p>
            <a:pPr lvl="0" indent="0" marL="0">
              <a:buNone/>
            </a:pPr>
          </a:p>
          <a:p>
            <a:pPr lvl="0" indent="0" marL="0">
              <a:buNone/>
            </a:pPr>
            <a:r>
              <a:rPr b="1"/>
              <a:t>Analogy:</a:t>
            </a:r>
            <a:r>
              <a:rPr/>
              <a:t> Think of AIED as a new, highly efficient Automated Factory. While it produces learning materials at scale (efficiency), it risks creating a sterile, one-size-fits-all product that lacks the “human touch” (eroding connection). More dangerously, if the factory’s blueprints (the algorithm) have a flaw (bias), it doesn’t just create one bad product; it replicates that flaw thousands of times, perpetuating the inequity at scale.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Key Takeaway:</a:t>
            </a:r>
            <a:r>
              <a:rPr/>
              <a:t> The long-term impact of AI is a </a:t>
            </a:r>
            <a:r>
              <a:rPr b="1"/>
              <a:t>forced re-humanization</a:t>
            </a:r>
            <a:r>
              <a:rPr/>
              <a:t> of the educator’s role, where the practitioner is compelled to abandon the commoditized, technical tasks (which AI can perform) and focus on the </a:t>
            </a:r>
            <a:r>
              <a:rPr b="1"/>
              <a:t>Human Edge of AI</a:t>
            </a:r>
            <a:r>
              <a:rPr/>
              <a:t>. This means prioritizing </a:t>
            </a:r>
            <a:r>
              <a:rPr b="1"/>
              <a:t>empathy, creativity, strategic thinking, mentorship, and socio-emotional support</a:t>
            </a:r>
            <a:r>
              <a:rPr/>
              <a:t>—the unique human skills vital for holistic student development that AI fundamentally cannot replicate. Educators must also become proficient in </a:t>
            </a:r>
            <a:r>
              <a:rPr b="1"/>
              <a:t>interpreting AI data</a:t>
            </a:r>
            <a:r>
              <a:rPr/>
              <a:t> and developing </a:t>
            </a:r>
            <a:r>
              <a:rPr b="1"/>
              <a:t>ethical reasoning</a:t>
            </a:r>
            <a:r>
              <a:rPr/>
              <a:t> to guide responsible technology use.</a:t>
            </a:r>
          </a:p>
          <a:p>
            <a:pPr lvl="0" indent="0" marL="0">
              <a:buNone/>
            </a:pPr>
          </a:p>
          <a:p>
            <a:pPr lvl="0" indent="0" marL="0">
              <a:buNone/>
            </a:pPr>
            <a:r>
              <a:rPr b="1"/>
              <a:t>Analogy:</a:t>
            </a:r>
            <a:r>
              <a:rPr/>
              <a:t> The integration of AI is like a Rising Tide. As the AI “tide” rises, it automates and submerges all the routine, technical “lowlands” of the job (grading, content delivery). This forces the educator to move to the “high ground”—the uniquely human skills of empathy, mentorship, and creative problem-solving that the tide cannot reach. Their value is no longer in the submerged tasks, but on this new, more human-centric high ground.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Purpose: “Use AI to draft summaries and repurpose them for teaching tasks.”</a:t>
            </a:r>
          </a:p>
          <a:p>
            <a:pPr lvl="0" indent="0" marL="0">
              <a:buNone/>
            </a:pPr>
          </a:p>
          <a:p>
            <a:pPr lvl="0" indent="0" marL="0">
              <a:buNone/>
            </a:pPr>
            <a:r>
              <a:rPr/>
              <a:t>Core instructions:</a:t>
            </a:r>
          </a:p>
          <a:p>
            <a:pPr lvl="0" indent="0" marL="0">
              <a:buNone/>
            </a:pPr>
          </a:p>
          <a:p>
            <a:pPr lvl="0" indent="-342900" marL="342900">
              <a:buAutoNum type="arabicPeriod"/>
            </a:pPr>
            <a:r>
              <a:rPr/>
              <a:t>Choose a short text:</a:t>
            </a:r>
          </a:p>
          <a:p>
            <a:pPr lvl="0" indent="0" marL="0">
              <a:buNone/>
            </a:pPr>
          </a:p>
          <a:p>
            <a:pPr lvl="1"/>
            <a:r>
              <a:rPr/>
              <a:t>reading excerpt, assignment brief, policy section, etc.</a:t>
            </a:r>
          </a:p>
          <a:p>
            <a:pPr lvl="0" indent="0" marL="0">
              <a:buNone/>
            </a:pPr>
          </a:p>
          <a:p>
            <a:pPr lvl="0" indent="-342900" marL="342900">
              <a:buAutoNum type="arabicPeriod"/>
            </a:pPr>
            <a:r>
              <a:rPr/>
              <a:t>Run the summary prompt:</a:t>
            </a:r>
          </a:p>
          <a:p>
            <a:pPr lvl="0" indent="0" marL="0">
              <a:buNone/>
            </a:pPr>
          </a:p>
          <a:p>
            <a:pPr lvl="1"/>
            <a:r>
              <a:rPr/>
              <a:t>“Summarise this for year level students in 5–7 bullet points. Use plain language, highlight 2–3 key ideas, end with one discussion question.”</a:t>
            </a:r>
          </a:p>
          <a:p>
            <a:pPr lvl="0" indent="0" marL="0">
              <a:buNone/>
            </a:pPr>
          </a:p>
          <a:p>
            <a:pPr lvl="0" indent="-342900" marL="342900">
              <a:buAutoNum type="arabicPeriod"/>
            </a:pPr>
            <a:r>
              <a:rPr/>
              <a:t>Choose a twist:</a:t>
            </a:r>
          </a:p>
          <a:p>
            <a:pPr lvl="0" indent="0" marL="0">
              <a:buNone/>
            </a:pPr>
          </a:p>
          <a:p>
            <a:pPr lvl="1"/>
            <a:r>
              <a:rPr/>
              <a:t>LMS announcement,</a:t>
            </a:r>
            <a:br/>
          </a:p>
          <a:p>
            <a:pPr lvl="0" indent="0" marL="0">
              <a:buNone/>
            </a:pPr>
          </a:p>
          <a:p>
            <a:pPr lvl="1"/>
            <a:r>
              <a:rPr/>
              <a:t>2‑slide outline,</a:t>
            </a:r>
            <a:br/>
          </a:p>
          <a:p>
            <a:pPr lvl="0" indent="0" marL="0">
              <a:buNone/>
            </a:pPr>
          </a:p>
          <a:p>
            <a:pPr lvl="1"/>
            <a:r>
              <a:rPr/>
              <a:t>short quiz.</a:t>
            </a:r>
          </a:p>
          <a:p>
            <a:pPr lvl="0" indent="0" marL="0">
              <a:buNone/>
            </a:pPr>
          </a:p>
          <a:p>
            <a:pPr lvl="0" indent="-342900" marL="342900">
              <a:buAutoNum type="arabicPeriod"/>
            </a:pPr>
            <a:r>
              <a:rPr/>
              <a:t>Edit the output as needed.</a:t>
            </a:r>
          </a:p>
          <a:p>
            <a:pPr lvl="0" indent="0" marL="0">
              <a:buNone/>
            </a:pPr>
          </a:p>
          <a:p>
            <a:pPr lvl="0" indent="0" marL="0">
              <a:buNone/>
            </a:pPr>
            <a:r>
              <a:rPr/>
              <a:t>Variants box:</a:t>
            </a:r>
          </a:p>
          <a:p>
            <a:pPr lvl="0" indent="0" marL="0">
              <a:buNone/>
            </a:pPr>
          </a:p>
          <a:p>
            <a:pPr lvl="0"/>
            <a:r>
              <a:rPr/>
              <a:t>Researchers: summarise an abstract → plain English for participants / media; summarise reviewer comments → draft response.</a:t>
            </a:r>
          </a:p>
          <a:p>
            <a:pPr lvl="0" indent="0" marL="0">
              <a:buNone/>
            </a:pPr>
          </a:p>
          <a:p>
            <a:pPr lvl="0"/>
            <a:r>
              <a:rPr/>
              <a:t>Professional staff: summarise a policy or process → student email, FAQ, or staff bulletin.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Purpose: “Move from vague prompts to structured, high‑quality ones.”</a:t>
            </a:r>
          </a:p>
          <a:p>
            <a:pPr lvl="0" indent="0" marL="0">
              <a:buNone/>
            </a:pPr>
          </a:p>
          <a:p>
            <a:pPr lvl="0" indent="0" marL="0">
              <a:buNone/>
            </a:pPr>
            <a:r>
              <a:rPr/>
              <a:t>Core instructions:</a:t>
            </a:r>
          </a:p>
          <a:p>
            <a:pPr lvl="0" indent="0" marL="0">
              <a:buNone/>
            </a:pPr>
          </a:p>
          <a:p>
            <a:pPr lvl="0" indent="-342900" marL="342900">
              <a:buAutoNum type="arabicPeriod"/>
            </a:pPr>
            <a:r>
              <a:rPr/>
              <a:t>Copy one prompt you actually used in Activity 1.</a:t>
            </a:r>
          </a:p>
          <a:p>
            <a:pPr lvl="0" indent="0" marL="0">
              <a:buNone/>
            </a:pPr>
          </a:p>
          <a:p>
            <a:pPr lvl="0" indent="-342900" marL="342900">
              <a:buAutoNum type="arabicPeriod"/>
            </a:pPr>
            <a:r>
              <a:rPr/>
              <a:t>Underneath it, rewrite using:</a:t>
            </a:r>
          </a:p>
          <a:p>
            <a:pPr lvl="0" indent="0" marL="0">
              <a:buNone/>
            </a:pPr>
          </a:p>
          <a:p>
            <a:pPr lvl="1"/>
            <a:r>
              <a:rPr/>
              <a:t>CONTEXT (unit/role, level, constraints)</a:t>
            </a:r>
          </a:p>
          <a:p>
            <a:pPr lvl="0" indent="0" marL="0">
              <a:buNone/>
            </a:pPr>
          </a:p>
          <a:p>
            <a:pPr lvl="1"/>
            <a:r>
              <a:rPr/>
              <a:t>ROLE (“You are a…”)</a:t>
            </a:r>
          </a:p>
          <a:p>
            <a:pPr lvl="0" indent="0" marL="0">
              <a:buNone/>
            </a:pPr>
          </a:p>
          <a:p>
            <a:pPr lvl="1"/>
            <a:r>
              <a:rPr/>
              <a:t>ACTION (what you want AI to do)</a:t>
            </a:r>
          </a:p>
          <a:p>
            <a:pPr lvl="0" indent="0" marL="0">
              <a:buNone/>
            </a:pPr>
          </a:p>
          <a:p>
            <a:pPr lvl="1"/>
            <a:r>
              <a:rPr/>
              <a:t>FORMAT (bullets, table, slides, etc.)</a:t>
            </a:r>
          </a:p>
          <a:p>
            <a:pPr lvl="0" indent="0" marL="0">
              <a:buNone/>
            </a:pPr>
          </a:p>
          <a:p>
            <a:pPr lvl="1"/>
            <a:r>
              <a:rPr/>
              <a:t>TONE/CONSTRAINTS (word limit, level, etc.)</a:t>
            </a:r>
          </a:p>
          <a:p>
            <a:pPr lvl="0" indent="0" marL="0">
              <a:buNone/>
            </a:pPr>
          </a:p>
          <a:p>
            <a:pPr lvl="0" indent="-342900" marL="342900">
              <a:buAutoNum type="arabicPeriod"/>
            </a:pPr>
            <a:r>
              <a:rPr/>
              <a:t>Run both prompts and compare outputs.</a:t>
            </a:r>
          </a:p>
          <a:p>
            <a:pPr lvl="0" indent="0" marL="0">
              <a:buNone/>
            </a:pPr>
          </a:p>
          <a:p>
            <a:pPr lvl="0" indent="-342900" marL="342900">
              <a:buAutoNum type="arabicPeriod"/>
            </a:pPr>
            <a:r>
              <a:rPr/>
              <a:t>Note what changed in quality, relevance, and usefulness.</a:t>
            </a:r>
          </a:p>
          <a:p>
            <a:pPr lvl="0" indent="0" marL="0">
              <a:buNone/>
            </a:pPr>
          </a:p>
          <a:p>
            <a:pPr lvl="0" indent="0" marL="0">
              <a:buNone/>
            </a:pPr>
            <a:r>
              <a:rPr/>
              <a:t>Include 1–2 patterns on the page (e.g. teaching activity prompt + feedback helper).</a:t>
            </a:r>
          </a:p>
          <a:p>
            <a:pPr lvl="0" indent="0" marL="0">
              <a:buNone/>
            </a:pPr>
          </a:p>
          <a:p>
            <a:pPr lvl="0" indent="0" marL="0">
              <a:buNone/>
            </a:pPr>
            <a:r>
              <a:rPr/>
              <a:t>Variants box:</a:t>
            </a:r>
          </a:p>
          <a:p>
            <a:pPr lvl="0" indent="0" marL="0">
              <a:buNone/>
            </a:pPr>
          </a:p>
          <a:p>
            <a:pPr lvl="0"/>
            <a:r>
              <a:rPr/>
              <a:t>Researchers: prompt makeover for literature review help, grant impact section, interview protocol.</a:t>
            </a:r>
          </a:p>
          <a:p>
            <a:pPr lvl="0" indent="0" marL="0">
              <a:buNone/>
            </a:pPr>
          </a:p>
          <a:p>
            <a:pPr lvl="0"/>
            <a:r>
              <a:rPr/>
              <a:t>Professional staff: prompt makeover for student comms, website copy, internal memos.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Purpose: “Evaluate AI outputs quickly and decide: refine, re‑prompt, or start over.”</a:t>
            </a:r>
          </a:p>
          <a:p>
            <a:pPr lvl="0" indent="0" marL="0">
              <a:buNone/>
            </a:pPr>
          </a:p>
          <a:p>
            <a:pPr lvl="0" indent="0" marL="0">
              <a:buNone/>
            </a:pPr>
            <a:r>
              <a:rPr/>
              <a:t>Core instructions:</a:t>
            </a:r>
          </a:p>
          <a:p>
            <a:pPr lvl="0" indent="0" marL="0">
              <a:buNone/>
            </a:pPr>
          </a:p>
          <a:p>
            <a:pPr lvl="0" indent="-342900" marL="342900">
              <a:buAutoNum type="arabicPeriod"/>
            </a:pPr>
            <a:r>
              <a:rPr/>
              <a:t>Pick one AI output from Activities 1–2.</a:t>
            </a:r>
          </a:p>
          <a:p>
            <a:pPr lvl="0" indent="0" marL="0">
              <a:buNone/>
            </a:pPr>
          </a:p>
          <a:p>
            <a:pPr lvl="0" indent="-342900" marL="342900">
              <a:buAutoNum type="arabicPeriod"/>
            </a:pPr>
            <a:r>
              <a:rPr/>
              <a:t>For each step, note one strength + one concern:</a:t>
            </a:r>
          </a:p>
          <a:p>
            <a:pPr lvl="0" indent="0" marL="0">
              <a:buNone/>
            </a:pPr>
          </a:p>
          <a:p>
            <a:pPr lvl="1"/>
            <a:r>
              <a:rPr/>
              <a:t>Purpose, Plausibility, Evidence, Stakes, Action.</a:t>
            </a:r>
          </a:p>
          <a:p>
            <a:pPr lvl="0" indent="0" marL="0">
              <a:buNone/>
            </a:pPr>
          </a:p>
          <a:p>
            <a:pPr lvl="0" indent="-342900" marL="342900">
              <a:buAutoNum type="arabicPeriod"/>
            </a:pPr>
            <a:r>
              <a:rPr/>
              <a:t>Decide:</a:t>
            </a:r>
          </a:p>
          <a:p>
            <a:pPr lvl="0" indent="0" marL="0">
              <a:buNone/>
            </a:pPr>
          </a:p>
          <a:p>
            <a:pPr lvl="1"/>
            <a:r>
              <a:rPr/>
              <a:t>Keep and lightly edit?</a:t>
            </a:r>
            <a:br/>
          </a:p>
          <a:p>
            <a:pPr lvl="0" indent="0" marL="0">
              <a:buNone/>
            </a:pPr>
          </a:p>
          <a:p>
            <a:pPr lvl="1"/>
            <a:r>
              <a:rPr/>
              <a:t>Re‑prompt in a new direction?</a:t>
            </a:r>
            <a:br/>
          </a:p>
          <a:p>
            <a:pPr lvl="0" indent="0" marL="0">
              <a:buNone/>
            </a:pPr>
          </a:p>
          <a:p>
            <a:pPr lvl="1"/>
            <a:r>
              <a:rPr/>
              <a:t>Discard and start fresh?</a:t>
            </a:r>
          </a:p>
          <a:p>
            <a:pPr lvl="0" indent="0" marL="0">
              <a:buNone/>
            </a:pPr>
          </a:p>
          <a:p>
            <a:pPr lvl="0" indent="0" marL="0">
              <a:buNone/>
            </a:pPr>
            <a:r>
              <a:rPr/>
              <a:t>Include a small 5‑column table they can scribble in.</a:t>
            </a:r>
          </a:p>
          <a:p>
            <a:pPr lvl="0" indent="0" marL="0">
              <a:buNone/>
            </a:pPr>
          </a:p>
          <a:p>
            <a:pPr lvl="0" indent="0" marL="0">
              <a:buNone/>
            </a:pPr>
            <a:r>
              <a:rPr/>
              <a:t>Variants box:</a:t>
            </a:r>
          </a:p>
          <a:p>
            <a:pPr lvl="0" indent="0" marL="0">
              <a:buNone/>
            </a:pPr>
          </a:p>
          <a:p>
            <a:pPr lvl="0"/>
            <a:r>
              <a:rPr/>
              <a:t>Researchers: critique an AI‑generated abstract, “related work” section, or summary.</a:t>
            </a:r>
          </a:p>
          <a:p>
            <a:pPr lvl="0" indent="0" marL="0">
              <a:buNone/>
            </a:pPr>
          </a:p>
          <a:p>
            <a:pPr lvl="0"/>
            <a:r>
              <a:rPr/>
              <a:t>Professional staff: critique an AI‑generated student email, FAQ, or web page.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Purpose: “Use AI to stress‑test an assessment (or parallel task) and sketch small redesigns.”</a:t>
            </a:r>
          </a:p>
          <a:p>
            <a:pPr lvl="0" indent="0" marL="0">
              <a:buNone/>
            </a:pPr>
          </a:p>
          <a:p>
            <a:pPr lvl="0" indent="0" marL="0">
              <a:buNone/>
            </a:pPr>
            <a:r>
              <a:rPr/>
              <a:t>Core instructions:</a:t>
            </a:r>
          </a:p>
          <a:p>
            <a:pPr lvl="0" indent="0" marL="0">
              <a:buNone/>
            </a:pPr>
          </a:p>
          <a:p>
            <a:pPr lvl="0" indent="-342900" marL="342900">
              <a:buAutoNum type="arabicPeriod"/>
            </a:pPr>
            <a:r>
              <a:rPr/>
              <a:t>Choose a task:</a:t>
            </a:r>
          </a:p>
          <a:p>
            <a:pPr lvl="0" indent="0" marL="0">
              <a:buNone/>
            </a:pPr>
          </a:p>
          <a:p>
            <a:pPr lvl="1"/>
            <a:r>
              <a:rPr/>
              <a:t>Your own assessment, or a provided example.</a:t>
            </a:r>
          </a:p>
          <a:p>
            <a:pPr lvl="0" indent="0" marL="0">
              <a:buNone/>
            </a:pPr>
          </a:p>
          <a:p>
            <a:pPr lvl="0" indent="-342900" marL="342900">
              <a:buAutoNum type="arabicPeriod"/>
            </a:pPr>
            <a:r>
              <a:rPr/>
              <a:t>Step 1 – Completion:</a:t>
            </a:r>
          </a:p>
          <a:p>
            <a:pPr lvl="0" indent="0" marL="0">
              <a:buNone/>
            </a:pPr>
          </a:p>
          <a:p>
            <a:pPr lvl="1"/>
            <a:r>
              <a:rPr/>
              <a:t>(If AI available) Ask AI to complete the task as a strong student.</a:t>
            </a:r>
          </a:p>
          <a:p>
            <a:pPr lvl="0" indent="0" marL="0">
              <a:buNone/>
            </a:pPr>
          </a:p>
          <a:p>
            <a:pPr lvl="0" indent="-342900" marL="342900">
              <a:buAutoNum type="arabicPeriod"/>
            </a:pPr>
            <a:r>
              <a:rPr/>
              <a:t>Step 2 – Critique:</a:t>
            </a:r>
          </a:p>
          <a:p>
            <a:pPr lvl="0" indent="0" marL="0">
              <a:buNone/>
            </a:pPr>
          </a:p>
          <a:p>
            <a:pPr lvl="1"/>
            <a:r>
              <a:rPr/>
              <a:t>Where does the AI answer look like a pass/HD?</a:t>
            </a:r>
            <a:br/>
          </a:p>
          <a:p>
            <a:pPr lvl="0" indent="0" marL="0">
              <a:buNone/>
            </a:pPr>
          </a:p>
          <a:p>
            <a:pPr lvl="1"/>
            <a:r>
              <a:rPr/>
              <a:t>Where is student thinking/judgement invisible?</a:t>
            </a:r>
            <a:br/>
          </a:p>
          <a:p>
            <a:pPr lvl="0" indent="0" marL="0">
              <a:buNone/>
            </a:pPr>
          </a:p>
          <a:p>
            <a:pPr lvl="1"/>
            <a:r>
              <a:rPr/>
              <a:t>What worries you most?</a:t>
            </a:r>
          </a:p>
          <a:p>
            <a:pPr lvl="0" indent="0" marL="0">
              <a:buNone/>
            </a:pPr>
          </a:p>
          <a:p>
            <a:pPr lvl="0" indent="-342900" marL="342900">
              <a:buAutoNum type="arabicPeriod"/>
            </a:pPr>
            <a:r>
              <a:rPr/>
              <a:t>Step 3 – Redesign:</a:t>
            </a:r>
          </a:p>
          <a:p>
            <a:pPr lvl="0" indent="0" marL="0">
              <a:buNone/>
            </a:pPr>
          </a:p>
          <a:p>
            <a:pPr lvl="1"/>
            <a:r>
              <a:rPr/>
              <a:t>Brainstorm 2–3 tweaks that would make student process more visible and allow transparent, limited AI use (e.g., in‑class element, AI use log, personal context).</a:t>
            </a:r>
          </a:p>
          <a:p>
            <a:pPr lvl="0" indent="0" marL="0">
              <a:buNone/>
            </a:pPr>
          </a:p>
          <a:p>
            <a:pPr lvl="0" indent="0" marL="0">
              <a:buNone/>
            </a:pPr>
            <a:r>
              <a:rPr/>
              <a:t>Variants box:</a:t>
            </a:r>
          </a:p>
          <a:p>
            <a:pPr lvl="0" indent="0" marL="0">
              <a:buNone/>
            </a:pPr>
          </a:p>
          <a:p>
            <a:pPr lvl="0"/>
            <a:r>
              <a:rPr/>
              <a:t>Researchers: stress‑test a grant section, data‑collection plan, or “impact” statement.</a:t>
            </a:r>
          </a:p>
          <a:p>
            <a:pPr lvl="0" indent="0" marL="0">
              <a:buNone/>
            </a:pPr>
          </a:p>
          <a:p>
            <a:pPr lvl="0"/>
            <a:r>
              <a:rPr/>
              <a:t>Professional staff: stress‑test a process description or comms piece (e.g., special consideration instructions).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Purpose: “Make one small, realistic commitment about safe AI use in your context.”</a:t>
            </a:r>
          </a:p>
          <a:p>
            <a:pPr lvl="0" indent="0" marL="0">
              <a:buNone/>
            </a:pPr>
          </a:p>
          <a:p>
            <a:pPr lvl="0" indent="0" marL="0">
              <a:buNone/>
            </a:pPr>
            <a:r>
              <a:rPr/>
              <a:t>“Secure, Safe, Sustainable AI – Why it matters”</a:t>
            </a:r>
          </a:p>
          <a:p>
            <a:pPr lvl="0" indent="0" marL="0">
              <a:buNone/>
            </a:pPr>
          </a:p>
          <a:p>
            <a:pPr lvl="0"/>
            <a:r>
              <a:rPr/>
              <a:t>We now have enterprise Copilot (data protection) and tools like Turnitin Clarity.</a:t>
            </a:r>
            <a:br/>
          </a:p>
          <a:p>
            <a:pPr lvl="0" indent="0" marL="0">
              <a:buNone/>
            </a:pPr>
          </a:p>
          <a:p>
            <a:pPr lvl="0"/>
            <a:r>
              <a:rPr/>
              <a:t>Security ≠ safety ≠ good pedagogy.</a:t>
            </a:r>
            <a:br/>
          </a:p>
          <a:p>
            <a:pPr lvl="0" indent="0" marL="0">
              <a:buNone/>
            </a:pPr>
          </a:p>
          <a:p>
            <a:pPr lvl="0"/>
            <a:r>
              <a:rPr/>
              <a:t>We still need simple, explicit norms for:</a:t>
            </a:r>
          </a:p>
          <a:p>
            <a:pPr lvl="0" indent="0" marL="0">
              <a:buNone/>
            </a:pPr>
          </a:p>
          <a:p>
            <a:pPr lvl="1"/>
            <a:r>
              <a:rPr/>
              <a:t>how we use AI in teaching</a:t>
            </a:r>
            <a:br/>
          </a:p>
          <a:p>
            <a:pPr lvl="0" indent="0" marL="0">
              <a:buNone/>
            </a:pPr>
          </a:p>
          <a:p>
            <a:pPr lvl="1"/>
            <a:r>
              <a:rPr/>
              <a:t>what we ask / allow from students</a:t>
            </a:r>
            <a:br/>
          </a:p>
          <a:p>
            <a:pPr lvl="0" indent="0" marL="0">
              <a:buNone/>
            </a:pPr>
          </a:p>
          <a:p>
            <a:pPr lvl="1"/>
            <a:r>
              <a:rPr/>
              <a:t>how this aligns with Assessment 2030 (human irreplaceability).</a:t>
            </a:r>
          </a:p>
          <a:p>
            <a:pPr lvl="0" indent="0" marL="0">
              <a:buNone/>
            </a:pPr>
          </a:p>
          <a:p>
            <a:pPr lvl="0" indent="0" marL="1270000">
              <a:buNone/>
            </a:pPr>
            <a:r>
              <a:rPr sz="2000"/>
              <a:t>“The tools give us guardrails, but they don’t make decisions for us. This activity is about one small, concrete step you can take in your own unit.”</a:t>
            </a:r>
          </a:p>
          <a:p>
            <a:pPr lvl="0" indent="0" marL="0">
              <a:buNone/>
            </a:pPr>
          </a:p>
          <a:p>
            <a:pPr lvl="0" indent="0" marL="0">
              <a:buNone/>
            </a:pPr>
            <a:r>
              <a:rPr/>
              <a:t>Core instructions:</a:t>
            </a:r>
          </a:p>
          <a:p>
            <a:pPr lvl="0" indent="0" marL="0">
              <a:buNone/>
            </a:pPr>
          </a:p>
          <a:p>
            <a:pPr lvl="0" indent="-342900" marL="342900">
              <a:buAutoNum type="arabicPeriod"/>
            </a:pPr>
            <a:r>
              <a:rPr/>
              <a:t>Choose one micro‑task:</a:t>
            </a:r>
          </a:p>
          <a:p>
            <a:pPr lvl="0" indent="0" marL="0">
              <a:buNone/>
            </a:pPr>
          </a:p>
          <a:p>
            <a:pPr lvl="1"/>
            <a:r>
              <a:rPr/>
              <a:t>A short “AI use in this unit/team” guideline,</a:t>
            </a:r>
            <a:br/>
          </a:p>
          <a:p>
            <a:pPr lvl="0" indent="0" marL="0">
              <a:buNone/>
            </a:pPr>
          </a:p>
          <a:p>
            <a:pPr lvl="1"/>
            <a:r>
              <a:rPr/>
              <a:t>A risk/benefit check for one planned AI use,</a:t>
            </a:r>
            <a:br/>
          </a:p>
          <a:p>
            <a:pPr lvl="0" indent="0" marL="0">
              <a:buNone/>
            </a:pPr>
          </a:p>
          <a:p>
            <a:pPr lvl="1"/>
            <a:r>
              <a:rPr/>
              <a:t>A Week‑1 statement for students/staff.</a:t>
            </a:r>
          </a:p>
          <a:p>
            <a:pPr lvl="0" indent="0" marL="0">
              <a:buNone/>
            </a:pPr>
          </a:p>
          <a:p>
            <a:pPr lvl="0" indent="-342900" marL="342900">
              <a:buAutoNum type="arabicPeriod"/>
            </a:pPr>
            <a:r>
              <a:rPr/>
              <a:t>Use AI to draft it (or write by hand).</a:t>
            </a:r>
          </a:p>
          <a:p>
            <a:pPr lvl="0" indent="0" marL="0">
              <a:buNone/>
            </a:pPr>
          </a:p>
          <a:p>
            <a:pPr lvl="0" indent="-342900" marL="342900">
              <a:buAutoNum type="arabicPeriod"/>
            </a:pPr>
            <a:r>
              <a:rPr/>
              <a:t>Edit to:</a:t>
            </a:r>
          </a:p>
          <a:p>
            <a:pPr lvl="0" indent="0" marL="0">
              <a:buNone/>
            </a:pPr>
          </a:p>
          <a:p>
            <a:pPr lvl="1"/>
            <a:r>
              <a:rPr/>
              <a:t>Fit your tone,</a:t>
            </a:r>
            <a:br/>
          </a:p>
          <a:p>
            <a:pPr lvl="0" indent="0" marL="0">
              <a:buNone/>
            </a:pPr>
          </a:p>
          <a:p>
            <a:pPr lvl="1"/>
            <a:r>
              <a:rPr/>
              <a:t>Align with policy,</a:t>
            </a:r>
            <a:br/>
          </a:p>
          <a:p>
            <a:pPr lvl="0" indent="0" marL="0">
              <a:buNone/>
            </a:pPr>
          </a:p>
          <a:p>
            <a:pPr lvl="1"/>
            <a:r>
              <a:rPr/>
              <a:t>Emphasise human judgement and transparency.</a:t>
            </a:r>
          </a:p>
          <a:p>
            <a:pPr lvl="0" indent="0" marL="0">
              <a:buNone/>
            </a:pPr>
          </a:p>
          <a:p>
            <a:pPr lvl="0" indent="0" marL="0">
              <a:buNone/>
            </a:pPr>
            <a:r>
              <a:rPr/>
              <a:t>Variants box:</a:t>
            </a:r>
          </a:p>
          <a:p>
            <a:pPr lvl="0" indent="0" marL="0">
              <a:buNone/>
            </a:pPr>
          </a:p>
          <a:p>
            <a:pPr lvl="0"/>
            <a:r>
              <a:rPr/>
              <a:t>Researchers: “AI in this project” statement; risk check for AI in data analysis or writing.</a:t>
            </a:r>
          </a:p>
          <a:p>
            <a:pPr lvl="0" indent="0" marL="0">
              <a:buNone/>
            </a:pPr>
          </a:p>
          <a:p>
            <a:pPr lvl="0"/>
            <a:r>
              <a:rPr/>
              <a:t>Professional staff: “AI in this team” guideline; student‑facing statement about how you’ll (not) use AI on their data.</a:t>
            </a:r>
          </a:p>
          <a:p>
            <a:pPr lvl="0" indent="0" marL="0">
              <a:buNone/>
            </a:pPr>
          </a:p>
          <a:p>
            <a:pPr lvl="0"/>
            <a:r>
              <a:rPr/>
              <a:t>If the morning session already had heavy discussion on privacy/ethics, you can:</a:t>
            </a:r>
          </a:p>
          <a:p>
            <a:pPr lvl="0" indent="0" marL="0">
              <a:buNone/>
            </a:pPr>
          </a:p>
          <a:p>
            <a:pPr lvl="1"/>
            <a:r>
              <a:rPr/>
              <a:t>Shrink Activity 5 to a 5–7 minute micro‑task, not a big new block.</a:t>
            </a:r>
          </a:p>
          <a:p>
            <a:pPr lvl="0" indent="0" marL="0">
              <a:buNone/>
            </a:pPr>
          </a:p>
          <a:p>
            <a:pPr lvl="1"/>
            <a:r>
              <a:rPr/>
              <a:t>Focus on one concrete output:</a:t>
            </a:r>
          </a:p>
          <a:p>
            <a:pPr lvl="0" indent="0" marL="0">
              <a:buNone/>
            </a:pPr>
          </a:p>
          <a:p>
            <a:pPr lvl="2"/>
            <a:r>
              <a:rPr/>
              <a:t>Option 1 (if they’re fresh): run the 3‑option micro‑task we designed (guideline, risk check, Week‑1 statement).</a:t>
            </a:r>
          </a:p>
          <a:p>
            <a:pPr lvl="0" indent="0" marL="0">
              <a:buNone/>
            </a:pPr>
          </a:p>
          <a:p>
            <a:pPr lvl="2"/>
            <a:r>
              <a:rPr/>
              <a:t>Option 2 (if they’re exhausted): just do one thing: &gt; “Take 3 minutes to draft a single sentence you could say to your students in Week 1 about how AI may be used in this unit, in a way that supports human judgement and Assessment 2030. You can use AI to help, or just write it.”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Suggested closing thread:</a:t>
            </a:r>
          </a:p>
          <a:p>
            <a:pPr lvl="0" indent="0" marL="0">
              <a:buNone/>
            </a:pPr>
          </a:p>
          <a:p>
            <a:pPr lvl="0"/>
            <a:r>
              <a:rPr b="1"/>
              <a:t>Recap the journey</a:t>
            </a:r>
            <a:r>
              <a:rPr/>
              <a:t> very briefly:</a:t>
            </a:r>
          </a:p>
          <a:p>
            <a:pPr lvl="0" indent="0" marL="0">
              <a:buNone/>
            </a:pPr>
          </a:p>
          <a:p>
            <a:pPr lvl="1"/>
            <a:r>
              <a:rPr/>
              <a:t>“We started by seeing how AI can </a:t>
            </a:r>
            <a:r>
              <a:rPr b="1"/>
              <a:t>automate tedious tasks</a:t>
            </a:r>
            <a:r>
              <a:rPr/>
              <a:t> and draft first versions for us.</a:t>
            </a:r>
            <a:br/>
            <a:r>
              <a:rPr/>
              <a:t>We then worked on </a:t>
            </a:r>
            <a:r>
              <a:rPr b="1"/>
              <a:t>designing better prompts</a:t>
            </a:r>
            <a:r>
              <a:rPr/>
              <a:t>, </a:t>
            </a:r>
            <a:r>
              <a:rPr b="1"/>
              <a:t>critiquing AI outputs</a:t>
            </a:r>
            <a:r>
              <a:rPr/>
              <a:t>, and finally </a:t>
            </a:r>
            <a:r>
              <a:rPr b="1"/>
              <a:t>stress‑testing our assessments</a:t>
            </a:r>
            <a:r>
              <a:rPr/>
              <a:t> and thinking about </a:t>
            </a:r>
            <a:r>
              <a:rPr b="1"/>
              <a:t>safe, sustainable use</a:t>
            </a:r>
            <a:r>
              <a:rPr/>
              <a:t>.”</a:t>
            </a:r>
          </a:p>
          <a:p>
            <a:pPr lvl="0" indent="0" marL="0">
              <a:buNone/>
            </a:pPr>
          </a:p>
          <a:p>
            <a:pPr lvl="0"/>
            <a:r>
              <a:rPr b="1"/>
              <a:t>Tie back to Assessment 2030 and your stance:</a:t>
            </a:r>
          </a:p>
          <a:p>
            <a:pPr lvl="0" indent="0" marL="0">
              <a:buNone/>
            </a:pPr>
          </a:p>
          <a:p>
            <a:pPr lvl="1"/>
            <a:r>
              <a:rPr/>
              <a:t>“All of that sits inside the Assessment 2030 idea: we’re not trying to ban AI, and we’re not blindly embracing it. We’re redesigning assessment and teaching so that </a:t>
            </a:r>
            <a:r>
              <a:rPr b="1"/>
              <a:t>student judgement, process, and human skills</a:t>
            </a:r>
            <a:r>
              <a:rPr/>
              <a:t> are what really matter.”</a:t>
            </a:r>
          </a:p>
          <a:p>
            <a:pPr lvl="0" indent="0" marL="0">
              <a:buNone/>
            </a:pPr>
          </a:p>
          <a:p>
            <a:pPr lvl="0"/>
            <a:r>
              <a:rPr b="1"/>
              <a:t>Reinforce the human edge:</a:t>
            </a:r>
          </a:p>
          <a:p>
            <a:pPr lvl="0" indent="0" marL="0">
              <a:buNone/>
            </a:pPr>
          </a:p>
          <a:p>
            <a:pPr lvl="1"/>
            <a:r>
              <a:rPr/>
              <a:t>“As more routine writing and summarising gets automated, the value of what only we can do – </a:t>
            </a:r>
            <a:r>
              <a:rPr b="1"/>
              <a:t>empathy, feedback, facilitation, contextual judgement</a:t>
            </a:r>
            <a:r>
              <a:rPr/>
              <a:t> – actually goes up. AI is the infrastructure; our job is to design how it supports learning, not replaces it.”</a:t>
            </a:r>
          </a:p>
          <a:p>
            <a:pPr lvl="0" indent="0" marL="0">
              <a:buNone/>
            </a:pPr>
          </a:p>
          <a:p>
            <a:pPr lvl="0"/>
            <a:r>
              <a:rPr b="1"/>
              <a:t>Point to next steps and resources:</a:t>
            </a:r>
          </a:p>
          <a:p>
            <a:pPr lvl="0" indent="0" marL="0">
              <a:buNone/>
            </a:pPr>
          </a:p>
          <a:p>
            <a:pPr lvl="1"/>
            <a:r>
              <a:rPr/>
              <a:t>“If you want to keep experimenting, the companion website has the handouts, prompt frameworks, and references we’ve touched on today. You can pick one activity and try it in a small way in your own unit or team.”</a:t>
            </a:r>
          </a:p>
          <a:p>
            <a:pPr lvl="0" indent="0" marL="0">
              <a:buNone/>
            </a:pPr>
          </a:p>
          <a:p>
            <a:pPr lvl="0" indent="0" marL="0">
              <a:buNone/>
            </a:pPr>
            <a:r>
              <a:rPr b="1"/>
              <a:t>Pause for questions (no dedicated Q&amp;A slide):</a:t>
            </a:r>
          </a:p>
          <a:p>
            <a:pPr lvl="0" indent="0" marL="0">
              <a:buNone/>
            </a:pPr>
          </a:p>
          <a:p>
            <a:pPr lvl="0" indent="0" marL="1270000">
              <a:buNone/>
            </a:pPr>
            <a:r>
              <a:rPr sz="2000"/>
              <a:t>“I’ll pause here – what questions, worries, or ideas are bubbling up for you? They can be about the tools, the activities, or how this fits with Assessment 2030 in your own context.”</a:t>
            </a:r>
          </a:p>
          <a:p>
            <a:pPr lvl="0" indent="0" marL="0">
              <a:buNone/>
            </a:pPr>
          </a:p>
          <a:p>
            <a:pPr lvl="0" indent="0" marL="0">
              <a:buNone/>
            </a:pPr>
            <a:r>
              <a:rPr/>
              <a:t>Because this is an internal session, you can close informally, for example:</a:t>
            </a:r>
          </a:p>
          <a:p>
            <a:pPr lvl="0" indent="0" marL="0">
              <a:buNone/>
            </a:pPr>
          </a:p>
          <a:p>
            <a:pPr lvl="0" indent="0" marL="1270000">
              <a:buNone/>
            </a:pPr>
            <a:r>
              <a:rPr sz="2000"/>
              <a:t>“If things come to you later, feel free to grab me in the corridor, drop me a message, or send through a sample assessment you’d like to stress‑test. I’m very happy to keep working on this with you.”</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mainly for people who scroll the deck later and want to see </a:t>
            </a:r>
            <a:r>
              <a:rPr b="1"/>
              <a:t>which references connect to which ideas</a:t>
            </a:r>
            <a:r>
              <a:rPr/>
              <a:t>. You don’t have to talk through it, but you can point participants to the full References page on the website if they want to explore further.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6.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8.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9.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10.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1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2.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AI in Pedagogical Design and Delivery</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Michael Borck</a:t>
            </a:r>
          </a:p>
        </p:txBody>
      </p:sp>
      <p:sp>
        <p:nvSpPr>
          <p:cNvPr id="4" name="Date Placeholder 3"/>
          <p:cNvSpPr>
            <a:spLocks noGrp="1"/>
          </p:cNvSpPr>
          <p:nvPr>
            <p:ph idx="10" sz="half" type="dt"/>
          </p:nvPr>
        </p:nvSpPr>
        <p:spPr/>
        <p:txBody>
          <a:bodyPr/>
          <a:lstStyle/>
          <a:p>
            <a:pPr lvl="0" indent="0" marL="0">
              <a:buNone/>
            </a:pPr>
            <a:r>
              <a:rPr/>
              <a:t>2025-11-17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 &amp; The AI Landscape</a:t>
            </a:r>
          </a:p>
        </p:txBody>
      </p:sp>
      <p:pic>
        <p:nvPicPr>
          <p:cNvPr descr="../docs/images/copilot-2-sigma.png" id="0" name="Picture 1"/>
          <p:cNvPicPr>
            <a:picLocks noGrp="1" noChangeAspect="1"/>
          </p:cNvPicPr>
          <p:nvPr/>
        </p:nvPicPr>
        <p:blipFill>
          <a:blip r:embed="rId2"/>
          <a:stretch>
            <a:fillRect/>
          </a:stretch>
        </p:blipFill>
        <p:spPr bwMode="auto">
          <a:xfrm>
            <a:off x="1854200" y="1193800"/>
            <a:ext cx="54229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Drafting and ideation for these materials were supported by generative AI tools, Python scripts, Quarto, and standard image editors under human oversight. All content has been reviewed, edited and verified by the author.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We’ll Do Today</a:t>
            </a:r>
          </a:p>
        </p:txBody>
      </p:sp>
      <p:sp>
        <p:nvSpPr>
          <p:cNvPr id="3" name="Content Placeholder 2"/>
          <p:cNvSpPr>
            <a:spLocks noGrp="1"/>
          </p:cNvSpPr>
          <p:nvPr>
            <p:ph idx="1"/>
          </p:nvPr>
        </p:nvSpPr>
        <p:spPr/>
        <p:txBody>
          <a:bodyPr/>
          <a:lstStyle/>
          <a:p>
            <a:pPr lvl="0"/>
            <a:r>
              <a:rPr/>
              <a:t>Set the scene: AI, Assessment 2030, and your context</a:t>
            </a:r>
            <a:br/>
          </a:p>
          <a:p>
            <a:pPr lvl="0"/>
            <a:r>
              <a:rPr/>
              <a:t>Try out 5 hands‑on activities:</a:t>
            </a:r>
          </a:p>
          <a:p>
            <a:pPr lvl="1"/>
            <a:r>
              <a:rPr/>
              <a:t>Automate some of the tedious work</a:t>
            </a:r>
            <a:br/>
          </a:p>
          <a:p>
            <a:pPr lvl="1"/>
            <a:r>
              <a:rPr/>
              <a:t>Design better prompts</a:t>
            </a:r>
            <a:br/>
          </a:p>
          <a:p>
            <a:pPr lvl="1"/>
            <a:r>
              <a:rPr/>
              <a:t>Critique AI outputs with a simple framework</a:t>
            </a:r>
            <a:br/>
          </a:p>
          <a:p>
            <a:pPr lvl="1"/>
            <a:r>
              <a:rPr/>
              <a:t>Use AI in a multi‑step workflow to probe or redesign a task</a:t>
            </a:r>
            <a:br/>
          </a:p>
          <a:p>
            <a:pPr lvl="1"/>
            <a:r>
              <a:rPr/>
              <a:t>Make one small commitment about safe AI use</a:t>
            </a:r>
            <a:br/>
          </a:p>
          <a:p>
            <a:pPr lvl="0"/>
            <a:r>
              <a:rPr/>
              <a:t>Wrap up with key takeaways and next steps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Intelligent Tutoring Systems (ITS)</a:t>
            </a:r>
          </a:p>
        </p:txBody>
      </p:sp>
      <p:pic>
        <p:nvPicPr>
          <p:cNvPr descr="../docs/images/itts-paths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Architect (Pedagogical Design)</a:t>
            </a:r>
          </a:p>
        </p:txBody>
      </p:sp>
      <p:pic>
        <p:nvPicPr>
          <p:cNvPr descr="../docs/images/architect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Practitioner (Pedagogical Delivery)</a:t>
            </a:r>
          </a:p>
        </p:txBody>
      </p:sp>
      <p:pic>
        <p:nvPicPr>
          <p:cNvPr descr="../docs/images/ai-copilot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Challenges &amp; Limitations</a:t>
            </a:r>
          </a:p>
        </p:txBody>
      </p:sp>
      <p:pic>
        <p:nvPicPr>
          <p:cNvPr descr="../docs/images/challenges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Evolving Role of the Educator</a:t>
            </a:r>
          </a:p>
        </p:txBody>
      </p:sp>
      <p:pic>
        <p:nvPicPr>
          <p:cNvPr descr="../docs/images/rising-tide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1: Automate the Tedious</a:t>
            </a:r>
          </a:p>
        </p:txBody>
      </p:sp>
      <p:pic>
        <p:nvPicPr>
          <p:cNvPr descr="../docs/images/automate_nobg.png" id="0" name="Picture 1"/>
          <p:cNvPicPr>
            <a:picLocks noGrp="1" noChangeAspect="1"/>
          </p:cNvPicPr>
          <p:nvPr/>
        </p:nvPicPr>
        <p:blipFill>
          <a:blip r:embed="rId3"/>
          <a:stretch>
            <a:fillRect/>
          </a:stretch>
        </p:blipFill>
        <p:spPr bwMode="auto">
          <a:xfrm>
            <a:off x="2209800" y="1193800"/>
            <a:ext cx="47371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2: The Art of the Prompt</a:t>
            </a:r>
          </a:p>
        </p:txBody>
      </p:sp>
      <p:pic>
        <p:nvPicPr>
          <p:cNvPr descr="../docs/images/prompt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3: Your 5-Step Critique Framework</a:t>
            </a:r>
          </a:p>
        </p:txBody>
      </p:sp>
      <p:pic>
        <p:nvPicPr>
          <p:cNvPr descr="../docs/images/check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4: Unlocking The Impossible</a:t>
            </a:r>
          </a:p>
        </p:txBody>
      </p:sp>
      <p:pic>
        <p:nvPicPr>
          <p:cNvPr descr="../docs/images/stress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Activity 5: Secure, Safe, and Sustainable AI</a:t>
            </a:r>
          </a:p>
        </p:txBody>
      </p:sp>
      <p:pic>
        <p:nvPicPr>
          <p:cNvPr descr="../docs/images/safety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Wrap-Up &amp; Next Steps</a:t>
            </a:r>
          </a:p>
        </p:txBody>
      </p:sp>
      <p:pic>
        <p:nvPicPr>
          <p:cNvPr descr="../docs/images/next_nobg.png" id="0" name="Picture 1"/>
          <p:cNvPicPr>
            <a:picLocks noGrp="1" noChangeAspect="1"/>
          </p:cNvPicPr>
          <p:nvPr/>
        </p:nvPicPr>
        <p:blipFill>
          <a:blip r:embed="rId3"/>
          <a:stretch>
            <a:fillRect/>
          </a:stretch>
        </p:blipFill>
        <p:spPr bwMode="auto">
          <a:xfrm>
            <a:off x="2870200" y="1193800"/>
            <a:ext cx="33909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Sources &amp; Slides (Optional)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Reference (short)</a:t>
                      </a:r>
                    </a:p>
                  </a:txBody>
                  <a:tcPr/>
                </a:tc>
                <a:tc>
                  <a:txBody>
                    <a:bodyPr/>
                    <a:lstStyle/>
                    <a:p>
                      <a:pPr lvl="0" indent="0" marL="0">
                        <a:buNone/>
                      </a:pPr>
                      <a:r>
                        <a:rPr/>
                        <a:t>Main slide(s) / themes</a:t>
                      </a:r>
                    </a:p>
                  </a:txBody>
                  <a:tcPr/>
                </a:tc>
              </a:tr>
              <a:tr h="0">
                <a:tc>
                  <a:txBody>
                    <a:bodyPr/>
                    <a:lstStyle/>
                    <a:p>
                      <a:pPr lvl="0" indent="0" marL="0">
                        <a:buNone/>
                      </a:pPr>
                      <a:r>
                        <a:rPr/>
                        <a:t>Bloom (1984) – 2 Sigma Problem</a:t>
                      </a:r>
                    </a:p>
                  </a:txBody>
                </a:tc>
                <a:tc>
                  <a:txBody>
                    <a:bodyPr/>
                    <a:lstStyle/>
                    <a:p>
                      <a:pPr lvl="0" indent="0" marL="0">
                        <a:buNone/>
                      </a:pPr>
                      <a:r>
                        <a:rPr/>
                        <a:t>Welcome &amp; AI Landscape (1‑to‑1 tutoring vs classroom; what we’re trying to approximate).</a:t>
                      </a:r>
                    </a:p>
                  </a:txBody>
                </a:tc>
              </a:tr>
              <a:tr h="0">
                <a:tc>
                  <a:txBody>
                    <a:bodyPr/>
                    <a:lstStyle/>
                    <a:p>
                      <a:pPr lvl="0" indent="0" marL="0">
                        <a:buNone/>
                      </a:pPr>
                      <a:r>
                        <a:rPr/>
                        <a:t>Sal Khan TED (2023) – </a:t>
                      </a:r>
                      <a:r>
                        <a:rPr i="1"/>
                        <a:t>How AI Could Save (Not Destroy) Education</a:t>
                      </a:r>
                    </a:p>
                  </a:txBody>
                </a:tc>
                <a:tc>
                  <a:txBody>
                    <a:bodyPr/>
                    <a:lstStyle/>
                    <a:p>
                      <a:pPr lvl="0" indent="0" marL="0">
                        <a:buNone/>
                      </a:pPr>
                      <a:r>
                        <a:rPr/>
                        <a:t>Welcome (idea of AI tutor for every student, AI assistant for every teacher).</a:t>
                      </a:r>
                    </a:p>
                  </a:txBody>
                </a:tc>
              </a:tr>
              <a:tr h="0">
                <a:tc>
                  <a:txBody>
                    <a:bodyPr/>
                    <a:lstStyle/>
                    <a:p>
                      <a:pPr lvl="0" indent="0" marL="0">
                        <a:buNone/>
                      </a:pPr>
                      <a:r>
                        <a:rPr/>
                        <a:t>Noroozi et al. (2025)</a:t>
                      </a:r>
                    </a:p>
                  </a:txBody>
                </a:tc>
                <a:tc>
                  <a:txBody>
                    <a:bodyPr/>
                    <a:lstStyle/>
                    <a:p>
                      <a:pPr lvl="0" indent="0" marL="0">
                        <a:buNone/>
                      </a:pPr>
                      <a:r>
                        <a:rPr/>
                        <a:t>Practitioner (human agency, real‑time intervention); Challenges &amp; Limitations; Evolving Role of the Educator.</a:t>
                      </a:r>
                    </a:p>
                  </a:txBody>
                </a:tc>
              </a:tr>
              <a:tr h="0">
                <a:tc>
                  <a:txBody>
                    <a:bodyPr/>
                    <a:lstStyle/>
                    <a:p>
                      <a:pPr lvl="0" indent="0" marL="0">
                        <a:buNone/>
                      </a:pPr>
                      <a:r>
                        <a:rPr/>
                        <a:t>Pireci Sejdiu &amp; Sejdiu (2025)</a:t>
                      </a:r>
                    </a:p>
                  </a:txBody>
                </a:tc>
                <a:tc>
                  <a:txBody>
                    <a:bodyPr/>
                    <a:lstStyle/>
                    <a:p>
                      <a:pPr lvl="0" indent="0" marL="0">
                        <a:buNone/>
                      </a:pPr>
                      <a:r>
                        <a:rPr/>
                        <a:t>Architect &amp; Practitioner (quiet transformation of HE); Evolving Role of the Educator.</a:t>
                      </a:r>
                    </a:p>
                  </a:txBody>
                </a:tc>
              </a:tr>
              <a:tr h="0">
                <a:tc>
                  <a:txBody>
                    <a:bodyPr/>
                    <a:lstStyle/>
                    <a:p>
                      <a:pPr lvl="0" indent="0" marL="0">
                        <a:buNone/>
                      </a:pPr>
                      <a:r>
                        <a:rPr/>
                        <a:t>Park University (2025)</a:t>
                      </a:r>
                    </a:p>
                  </a:txBody>
                </a:tc>
                <a:tc>
                  <a:txBody>
                    <a:bodyPr/>
                    <a:lstStyle/>
                    <a:p>
                      <a:pPr lvl="0" indent="0" marL="0">
                        <a:buNone/>
                      </a:pPr>
                      <a:r>
                        <a:rPr/>
                        <a:t>Intelligent Tutoring Systems (overview of ITS and benefits).</a:t>
                      </a:r>
                    </a:p>
                  </a:txBody>
                </a:tc>
              </a:tr>
              <a:tr h="0">
                <a:tc>
                  <a:txBody>
                    <a:bodyPr/>
                    <a:lstStyle/>
                    <a:p>
                      <a:pPr lvl="0" indent="0" marL="0">
                        <a:buNone/>
                      </a:pPr>
                      <a:r>
                        <a:rPr/>
                        <a:t>Li et al. (2025); Budiman et al. (2025); Kwak (2025); Chen (2025)</a:t>
                      </a:r>
                    </a:p>
                  </a:txBody>
                </a:tc>
                <a:tc>
                  <a:txBody>
                    <a:bodyPr/>
                    <a:lstStyle/>
                    <a:p>
                      <a:pPr lvl="0" indent="0" marL="0">
                        <a:buNone/>
                      </a:pPr>
                      <a:r>
                        <a:rPr/>
                        <a:t>ITS &amp; Practitioner slides (evidence that AI‑mediated teaching can improve outcomes).</a:t>
                      </a:r>
                    </a:p>
                  </a:txBody>
                </a:tc>
              </a:tr>
              <a:tr h="0">
                <a:tc>
                  <a:txBody>
                    <a:bodyPr/>
                    <a:lstStyle/>
                    <a:p>
                      <a:pPr lvl="0" indent="0" marL="0">
                        <a:buNone/>
                      </a:pPr>
                      <a:r>
                        <a:rPr/>
                        <a:t>Rojas (2025)</a:t>
                      </a:r>
                    </a:p>
                  </a:txBody>
                </a:tc>
                <a:tc>
                  <a:txBody>
                    <a:bodyPr/>
                    <a:lstStyle/>
                    <a:p>
                      <a:pPr lvl="0" indent="0" marL="0">
                        <a:buNone/>
                      </a:pPr>
                      <a:r>
                        <a:rPr/>
                        <a:t>Architect slide (instructional design in the AI era); Evolving Role of the Educator.</a:t>
                      </a:r>
                    </a:p>
                  </a:txBody>
                </a:tc>
              </a:tr>
              <a:tr h="0">
                <a:tc>
                  <a:txBody>
                    <a:bodyPr/>
                    <a:lstStyle/>
                    <a:p>
                      <a:pPr lvl="0" indent="0" marL="0">
                        <a:buNone/>
                      </a:pPr>
                      <a:r>
                        <a:rPr/>
                        <a:t>Dwivedi et al. (2023)</a:t>
                      </a:r>
                    </a:p>
                  </a:txBody>
                </a:tc>
                <a:tc>
                  <a:txBody>
                    <a:bodyPr/>
                    <a:lstStyle/>
                    <a:p>
                      <a:pPr lvl="0" indent="0" marL="0">
                        <a:buNone/>
                      </a:pPr>
                      <a:r>
                        <a:rPr/>
                        <a:t>Challenges &amp; Limitations (opportunities vs misuse, integrity, policy gaps).</a:t>
                      </a:r>
                    </a:p>
                  </a:txBody>
                </a:tc>
              </a:tr>
              <a:tr h="0">
                <a:tc>
                  <a:txBody>
                    <a:bodyPr/>
                    <a:lstStyle/>
                    <a:p>
                      <a:pPr lvl="0" indent="0" marL="0">
                        <a:buNone/>
                      </a:pPr>
                      <a:r>
                        <a:rPr/>
                        <a:t>Gerlich (2025); Kosmyna et al. (2025)</a:t>
                      </a:r>
                    </a:p>
                  </a:txBody>
                </a:tc>
                <a:tc>
                  <a:txBody>
                    <a:bodyPr/>
                    <a:lstStyle/>
                    <a:p>
                      <a:pPr lvl="0" indent="0" marL="0">
                        <a:buNone/>
                      </a:pPr>
                      <a:r>
                        <a:rPr/>
                        <a:t>Challenges &amp; Activity 3 (cognitive offloading / cognitive debt in AI‑assisted work).</a:t>
                      </a:r>
                    </a:p>
                  </a:txBody>
                </a:tc>
              </a:tr>
              <a:tr h="0">
                <a:tc>
                  <a:txBody>
                    <a:bodyPr/>
                    <a:lstStyle/>
                    <a:p>
                      <a:pPr lvl="0" indent="0" marL="0">
                        <a:buNone/>
                      </a:pPr>
                      <a:r>
                        <a:rPr/>
                        <a:t>Yin et al. (2025); EDUCAUSE (2025); TEQSA (2025); Russell Group (2023)</a:t>
                      </a:r>
                    </a:p>
                  </a:txBody>
                </a:tc>
                <a:tc>
                  <a:txBody>
                    <a:bodyPr/>
                    <a:lstStyle/>
                    <a:p>
                      <a:pPr lvl="0" indent="0" marL="0">
                        <a:buNone/>
                      </a:pPr>
                      <a:r>
                        <a:rPr/>
                        <a:t>Challenges &amp; Activity 5 (fairness, bias, ethics, institutional guidelines and guardrails).</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Pedagogical Design and Delivery</dc:title>
  <dc:creator>Michael Borck</dc:creator>
  <cp:keywords/>
  <dcterms:created xsi:type="dcterms:W3CDTF">2025-11-17T03:01:12Z</dcterms:created>
  <dcterms:modified xsi:type="dcterms:W3CDTF">2025-11-17T03:01:12Z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2025-11-17</vt:lpwstr>
  </property>
  <property fmtid="{D5CDD505-2E9C-101B-9397-08002B2CF9AE}" pid="6" name="footer">
    <vt:lpwstr>AI in Pedagogical Design and Delivery | Michael Borck</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